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media/image10.png" ContentType="image/png"/>
  <Override PartName="/ppt/media/image6.jpeg" ContentType="image/jpeg"/>
  <Override PartName="/ppt/media/image1.png" ContentType="image/png"/>
  <Override PartName="/ppt/media/image12.png" ContentType="image/png"/>
  <Override PartName="/ppt/media/image3.png" ContentType="image/png"/>
  <Override PartName="/ppt/media/image8.png" ContentType="image/png"/>
  <Override PartName="/ppt/media/image17.png" ContentType="image/png"/>
  <Override PartName="/ppt/media/image11.png" ContentType="image/png"/>
  <Override PartName="/ppt/media/image2.png" ContentType="image/png"/>
  <Override PartName="/ppt/media/image22.jpeg" ContentType="image/jpeg"/>
  <Override PartName="/ppt/media/image24.jpeg" ContentType="image/jpeg"/>
  <Override PartName="/ppt/media/image23.png" ContentType="image/png"/>
  <Override PartName="/ppt/media/image21.jpeg" ContentType="image/jpeg"/>
  <Override PartName="/ppt/media/image20.jpeg" ContentType="image/jpeg"/>
  <Override PartName="/ppt/media/image19.png" ContentType="image/png"/>
  <Override PartName="/ppt/media/image16.png" ContentType="image/png"/>
  <Override PartName="/ppt/media/image15.png" ContentType="image/png"/>
  <Override PartName="/ppt/media/image5.jpeg" ContentType="image/jpeg"/>
  <Override PartName="/ppt/media/image14.png" ContentType="image/png"/>
  <Override PartName="/ppt/media/image4.png" ContentType="image/png"/>
  <Override PartName="/ppt/media/image13.png" ContentType="image/png"/>
  <Override PartName="/ppt/media/image7.jpeg" ContentType="image/jpeg"/>
  <Override PartName="/ppt/media/image9.png" ContentType="image/png"/>
  <Override PartName="/ppt/media/image18.png" ContentType="image/png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s/_rels/slide5.xml.rels" ContentType="application/vnd.openxmlformats-package.relationships+xml"/>
  <Override PartName="/ppt/slides/_rels/slide21.xml.rels" ContentType="application/vnd.openxmlformats-package.relationships+xml"/>
  <Override PartName="/ppt/slides/_rels/slide19.xml.rels" ContentType="application/vnd.openxmlformats-package.relationships+xml"/>
  <Override PartName="/ppt/slides/_rels/slide4.xml.rels" ContentType="application/vnd.openxmlformats-package.relationships+xml"/>
  <Override PartName="/ppt/slides/_rels/slide20.xml.rels" ContentType="application/vnd.openxmlformats-package.relationships+xml"/>
  <Override PartName="/ppt/slides/_rels/slide18.xml.rels" ContentType="application/vnd.openxmlformats-package.relationships+xml"/>
  <Override PartName="/ppt/slides/_rels/slide3.xml.rels" ContentType="application/vnd.openxmlformats-package.relationships+xml"/>
  <Override PartName="/ppt/slides/_rels/slide17.xml.rels" ContentType="application/vnd.openxmlformats-package.relationships+xml"/>
  <Override PartName="/ppt/slides/_rels/slide2.xml.rels" ContentType="application/vnd.openxmlformats-package.relationships+xml"/>
  <Override PartName="/ppt/slides/_rels/slide16.xml.rels" ContentType="application/vnd.openxmlformats-package.relationships+xml"/>
  <Override PartName="/ppt/slides/_rels/slide1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24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23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22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24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23.xml" ContentType="application/vnd.openxmlformats-officedocument.presentationml.slide+xml"/>
  <Override PartName="/ppt/slides/slide6.xml" ContentType="application/vnd.openxmlformats-officedocument.presentationml.slide+xml"/>
  <Override PartName="/ppt/slides/slide22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17.xml" ContentType="application/vnd.openxmlformats-officedocument.presentationml.slide+xml"/>
  <Override PartName="/ppt/slides/slide3.xml" ContentType="application/vnd.openxmlformats-officedocument.presentationml.slide+xml"/>
  <Override PartName="/ppt/slides/slide18.xml" ContentType="application/vnd.openxmlformats-officedocument.presentationml.slide+xml"/>
  <Override PartName="/ppt/slides/slide20.xml" ContentType="application/vnd.openxmlformats-officedocument.presentationml.slide+xml"/>
  <Override PartName="/ppt/slides/slide4.xml" ContentType="application/vnd.openxmlformats-officedocument.presentationml.slide+xml"/>
  <Override PartName="/ppt/slides/slide19.xml" ContentType="application/vnd.openxmlformats-officedocument.presentationml.slide+xml"/>
  <Override PartName="/ppt/slides/slide5.xml" ContentType="application/vnd.openxmlformats-officedocument.presentationml.slide+xml"/>
  <Override PartName="/ppt/slides/slide2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1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</p:sldIdLst>
  <p:sldSz cx="10080625" cy="7559675"/>
  <p:notesSz cx="7772400" cy="10058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material-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548640" y="1481040"/>
            <a:ext cx="9071640" cy="1262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548640" y="2834640"/>
            <a:ext cx="9071640" cy="438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Open Sans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material-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548640" y="1481040"/>
            <a:ext cx="9071640" cy="1262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/>
          </p:nvPr>
        </p:nvSpPr>
        <p:spPr>
          <a:xfrm>
            <a:off x="548640" y="2834640"/>
            <a:ext cx="9071640" cy="438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Open Sans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Midnight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548640" y="1481040"/>
            <a:ext cx="9071640" cy="1262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/>
          </p:nvPr>
        </p:nvSpPr>
        <p:spPr>
          <a:xfrm>
            <a:off x="548640" y="2834640"/>
            <a:ext cx="9071640" cy="438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Open Sans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86D794D-146F-4CDA-A4B5-3F56E7EE838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3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0"/>
            <a:ext cx="10080000" cy="1371600"/>
          </a:xfrm>
          <a:prstGeom prst="rect">
            <a:avLst/>
          </a:prstGeom>
          <a:solidFill>
            <a:srgbClr val="236cb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/>
            <a:r>
              <a:rPr b="0" lang="en-US" sz="5600" spc="-1" strike="noStrike">
                <a:solidFill>
                  <a:srgbClr val="ffffff"/>
                </a:solidFill>
                <a:latin typeface="Times New Roman"/>
              </a:rPr>
              <a:t>        </a:t>
            </a:r>
            <a:r>
              <a:rPr b="0" lang="en-US" sz="5600" spc="-1" strike="noStrike">
                <a:solidFill>
                  <a:srgbClr val="ffffff"/>
                </a:solidFill>
                <a:latin typeface="Times New Roman"/>
              </a:rPr>
              <a:t>University of Dar es Salaam</a:t>
            </a:r>
            <a:endParaRPr b="0" lang="en-US" sz="56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548640" y="1481040"/>
            <a:ext cx="9071640" cy="1262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ffffff"/>
                </a:solidFill>
                <a:latin typeface="Open Sans"/>
              </a:rPr>
              <a:t>Click to edit the title text format</a:t>
            </a:r>
            <a:endParaRPr b="0" lang="en-US" sz="44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548640" y="2834640"/>
            <a:ext cx="9071640" cy="438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Open Sans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Open Sans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Open Sans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Open Sans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Open Sans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Open Sans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Open Sans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Open Sans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Open Sans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Open Sans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Open Sans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Open Sans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Open Sans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Open Sans"/>
            </a:endParaRPr>
          </a:p>
        </p:txBody>
      </p:sp>
      <p:pic>
        <p:nvPicPr>
          <p:cNvPr id="3" name="" descr=""/>
          <p:cNvPicPr/>
          <p:nvPr/>
        </p:nvPicPr>
        <p:blipFill>
          <a:blip r:embed="rId2">
            <a:alphaModFix amt="0"/>
          </a:blip>
          <a:stretch/>
        </p:blipFill>
        <p:spPr>
          <a:xfrm>
            <a:off x="120240" y="0"/>
            <a:ext cx="1342800" cy="1371240"/>
          </a:xfrm>
          <a:prstGeom prst="rect">
            <a:avLst/>
          </a:prstGeom>
          <a:ln w="0">
            <a:noFill/>
          </a:ln>
          <a:effectLst>
            <a:outerShdw dist="18000" dir="5400000" blurRad="0" rotWithShape="0">
              <a:srgbClr val="808080">
                <a:alpha val="0"/>
              </a:srgbClr>
            </a:outerShdw>
          </a:effectLst>
        </p:spPr>
      </p:pic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3"/>
    <p:sldLayoutId id="2147483650" r:id="rId4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"/>
          <p:cNvSpPr/>
          <p:nvPr/>
        </p:nvSpPr>
        <p:spPr>
          <a:xfrm>
            <a:off x="360" y="7198920"/>
            <a:ext cx="10078200" cy="358560"/>
          </a:xfrm>
          <a:prstGeom prst="rect">
            <a:avLst/>
          </a:prstGeom>
          <a:solidFill>
            <a:srgbClr val="2c3e50"/>
          </a:solidFill>
          <a:ln w="0">
            <a:noFill/>
          </a:ln>
          <a:effectLst>
            <a:outerShdw dist="18000" dir="5400000" blurRad="0" rotWithShape="0">
              <a:srgbClr val="808080"/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endParaRPr b="1" lang="en-GB" sz="1400" spc="-1" strike="noStrike">
              <a:solidFill>
                <a:srgbClr val="ffffff"/>
              </a:solidFill>
              <a:latin typeface="Noto Sans"/>
              <a:ea typeface="DejaVu Sans"/>
            </a:endParaRPr>
          </a:p>
        </p:txBody>
      </p:sp>
      <p:sp>
        <p:nvSpPr>
          <p:cNvPr id="9" name=""/>
          <p:cNvSpPr/>
          <p:nvPr/>
        </p:nvSpPr>
        <p:spPr>
          <a:xfrm>
            <a:off x="360" y="0"/>
            <a:ext cx="10078200" cy="1618200"/>
          </a:xfrm>
          <a:prstGeom prst="rect">
            <a:avLst/>
          </a:prstGeom>
          <a:solidFill>
            <a:srgbClr val="2c3e50"/>
          </a:solidFill>
          <a:ln w="0">
            <a:noFill/>
          </a:ln>
          <a:effectLst>
            <a:outerShdw dist="18000" dir="5400000" blurRad="0" rotWithShape="0">
              <a:srgbClr val="808080"/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endParaRPr b="1" lang="en-GB" sz="1400" spc="-1" strike="noStrike">
              <a:solidFill>
                <a:srgbClr val="ffffff"/>
              </a:solidFill>
              <a:latin typeface="Noto Sans"/>
              <a:ea typeface="DejaVu Sans"/>
            </a:endParaRPr>
          </a:p>
        </p:txBody>
      </p:sp>
      <p:sp>
        <p:nvSpPr>
          <p:cNvPr id="10" name=""/>
          <p:cNvSpPr/>
          <p:nvPr/>
        </p:nvSpPr>
        <p:spPr>
          <a:xfrm>
            <a:off x="9314280" y="6899040"/>
            <a:ext cx="448920" cy="598320"/>
          </a:xfrm>
          <a:prstGeom prst="ellipse">
            <a:avLst/>
          </a:prstGeom>
          <a:solidFill>
            <a:srgbClr val="1abc9c"/>
          </a:solidFill>
          <a:ln w="0">
            <a:solidFill>
              <a:srgbClr val="1abc9c"/>
            </a:solidFill>
          </a:ln>
          <a:effectLst>
            <a:outerShdw dist="18000" dir="5400000" blurRad="0" rotWithShape="0">
              <a:srgbClr val="808080"/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endParaRPr b="1" lang="en-GB" sz="1400" spc="-1" strike="noStrike">
              <a:solidFill>
                <a:srgbClr val="ffffff"/>
              </a:solidFill>
              <a:latin typeface="Noto Sans"/>
              <a:ea typeface="DejaVu Sans"/>
            </a:endParaRPr>
          </a:p>
        </p:txBody>
      </p:sp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359640" y="300600"/>
            <a:ext cx="9358200" cy="95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GB" sz="3200" spc="-1" strike="noStrike">
                <a:solidFill>
                  <a:srgbClr val="ffffff"/>
                </a:solidFill>
                <a:latin typeface="Noto Sans"/>
              </a:rPr>
              <a:t>Click to edit the title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359640" y="1979640"/>
            <a:ext cx="9358200" cy="503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Aft>
                <a:spcPts val="1057"/>
              </a:spcAft>
              <a:buClr>
                <a:srgbClr val="2c3e50"/>
              </a:buClr>
              <a:buSzPct val="45000"/>
              <a:buFont typeface="Wingdings" charset="2"/>
              <a:buChar char=""/>
            </a:pPr>
            <a:r>
              <a:rPr b="1" lang="en-GB" sz="2400" spc="-1" strike="noStrike">
                <a:solidFill>
                  <a:srgbClr val="2c3e50"/>
                </a:solidFill>
                <a:latin typeface="Noto Sans"/>
              </a:rPr>
              <a:t>Click to edit the outline text format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Aft>
                <a:spcPts val="850"/>
              </a:spcAft>
              <a:buClr>
                <a:srgbClr val="2c3e50"/>
              </a:buClr>
              <a:buSzPct val="75000"/>
              <a:buFont typeface="Symbol" charset="2"/>
              <a:buChar char=""/>
            </a:pPr>
            <a:r>
              <a:rPr b="0" lang="en-GB" sz="2100" spc="-1" strike="noStrike">
                <a:solidFill>
                  <a:srgbClr val="2c3e50"/>
                </a:solidFill>
                <a:latin typeface="Noto Sans"/>
              </a:rPr>
              <a:t>Second Outline Level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lnSpc>
                <a:spcPct val="100000"/>
              </a:lnSpc>
              <a:spcAft>
                <a:spcPts val="635"/>
              </a:spcAft>
              <a:buClr>
                <a:srgbClr val="2c3e5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solidFill>
                  <a:srgbClr val="2c3e50"/>
                </a:solidFill>
                <a:latin typeface="Noto Sans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lnSpc>
                <a:spcPct val="100000"/>
              </a:lnSpc>
              <a:spcAft>
                <a:spcPts val="425"/>
              </a:spcAft>
              <a:buClr>
                <a:srgbClr val="2c3e50"/>
              </a:buClr>
              <a:buSzPct val="75000"/>
              <a:buFont typeface="Symbol" charset="2"/>
              <a:buChar char=""/>
            </a:pPr>
            <a:r>
              <a:rPr b="0" lang="en-GB" sz="1500" spc="-1" strike="noStrike">
                <a:solidFill>
                  <a:srgbClr val="2c3e50"/>
                </a:solidFill>
                <a:latin typeface="Noto Sans"/>
              </a:rPr>
              <a:t>Fourth Outline Level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lnSpc>
                <a:spcPct val="100000"/>
              </a:lnSpc>
              <a:spcAft>
                <a:spcPts val="213"/>
              </a:spcAft>
              <a:buClr>
                <a:srgbClr val="2c3e50"/>
              </a:buClr>
              <a:buSzPct val="45000"/>
              <a:buFont typeface="Wingdings" charset="2"/>
              <a:buChar char=""/>
            </a:pPr>
            <a:r>
              <a:rPr b="0" lang="en-GB" sz="1500" spc="-1" strike="noStrike">
                <a:solidFill>
                  <a:srgbClr val="2c3e50"/>
                </a:solidFill>
                <a:latin typeface="Noto Sans"/>
              </a:rPr>
              <a:t>Fifth Outline Level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lnSpc>
                <a:spcPct val="100000"/>
              </a:lnSpc>
              <a:spcAft>
                <a:spcPts val="213"/>
              </a:spcAft>
              <a:buClr>
                <a:srgbClr val="2c3e50"/>
              </a:buClr>
              <a:buSzPct val="45000"/>
              <a:buFont typeface="Wingdings" charset="2"/>
              <a:buChar char=""/>
            </a:pPr>
            <a:r>
              <a:rPr b="0" lang="en-GB" sz="1500" spc="-1" strike="noStrike">
                <a:solidFill>
                  <a:srgbClr val="2c3e50"/>
                </a:solidFill>
                <a:latin typeface="Noto Sans"/>
              </a:rPr>
              <a:t>Sixth Outline Level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lnSpc>
                <a:spcPct val="100000"/>
              </a:lnSpc>
              <a:spcAft>
                <a:spcPts val="213"/>
              </a:spcAft>
              <a:buClr>
                <a:srgbClr val="2c3e50"/>
              </a:buClr>
              <a:buSzPct val="45000"/>
              <a:buFont typeface="Wingdings" charset="2"/>
              <a:buChar char=""/>
            </a:pPr>
            <a:r>
              <a:rPr b="0" lang="en-GB" sz="1500" spc="-1" strike="noStrike">
                <a:solidFill>
                  <a:srgbClr val="2c3e50"/>
                </a:solidFill>
                <a:latin typeface="Noto Sans"/>
              </a:rPr>
              <a:t>Seventh Outline Level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1"/>
          </p:nvPr>
        </p:nvSpPr>
        <p:spPr>
          <a:xfrm>
            <a:off x="359640" y="7198920"/>
            <a:ext cx="2878560" cy="4384800"/>
          </a:xfrm>
          <a:prstGeom prst="rect">
            <a:avLst/>
          </a:prstGeom>
          <a:noFill/>
          <a:ln w="72000">
            <a:noFill/>
          </a:ln>
        </p:spPr>
        <p:txBody>
          <a:bodyPr lIns="0" rIns="0" tIns="0" bIns="0" anchor="t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1" lang="en-GB" sz="1800" spc="-1" strike="noStrike">
                <a:solidFill>
                  <a:srgbClr val="ffffff"/>
                </a:solidFill>
                <a:latin typeface="Noto Sans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GB" sz="1800" spc="-1" strike="noStrike">
                <a:solidFill>
                  <a:srgbClr val="ffffff"/>
                </a:solidFill>
                <a:latin typeface="Noto Sans"/>
              </a:rPr>
              <a:t>&lt;date/time&gt;</a:t>
            </a:r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2"/>
          </p:nvPr>
        </p:nvSpPr>
        <p:spPr>
          <a:xfrm>
            <a:off x="3419640" y="7198920"/>
            <a:ext cx="3238560" cy="4384800"/>
          </a:xfrm>
          <a:prstGeom prst="rect">
            <a:avLst/>
          </a:prstGeom>
          <a:noFill/>
          <a:ln w="7200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1" lang="en-GB" sz="1800" spc="-1" strike="noStrike">
                <a:solidFill>
                  <a:srgbClr val="ffffff"/>
                </a:solidFill>
                <a:latin typeface="Noto Sans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GB" sz="1800" spc="-1" strike="noStrike">
                <a:solidFill>
                  <a:srgbClr val="ffffff"/>
                </a:solidFill>
                <a:latin typeface="Noto Sans"/>
              </a:rPr>
              <a:t>&lt;footer&gt;</a:t>
            </a:r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3"/>
          </p:nvPr>
        </p:nvSpPr>
        <p:spPr>
          <a:xfrm>
            <a:off x="9179280" y="5006160"/>
            <a:ext cx="718920" cy="4384800"/>
          </a:xfrm>
          <a:prstGeom prst="rect">
            <a:avLst/>
          </a:prstGeom>
          <a:noFill/>
          <a:ln w="72000">
            <a:noFill/>
          </a:ln>
        </p:spPr>
        <p:txBody>
          <a:bodyPr lIns="0" rIns="0" t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1" lang="en-GB" sz="1800" spc="-1" strike="noStrike">
                <a:solidFill>
                  <a:srgbClr val="ffffff"/>
                </a:solidFill>
                <a:latin typeface="Noto Sans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33F6AC12-9408-44FC-AA69-292E6231C1EA}" type="slidenum">
              <a:rPr b="1" lang="en-GB" sz="1800" spc="-1" strike="noStrike">
                <a:solidFill>
                  <a:srgbClr val="ffffff"/>
                </a:solidFill>
                <a:latin typeface="Noto Sans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2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5.jpeg"/><Relationship Id="rId3" Type="http://schemas.openxmlformats.org/officeDocument/2006/relationships/image" Target="../media/image6.jpeg"/><Relationship Id="rId4" Type="http://schemas.openxmlformats.org/officeDocument/2006/relationships/image" Target="../media/image7.jpeg"/><Relationship Id="rId5" Type="http://schemas.openxmlformats.org/officeDocument/2006/relationships/image" Target="../media/image8.png"/><Relationship Id="rId6" Type="http://schemas.openxmlformats.org/officeDocument/2006/relationships/slideLayout" Target="../slideLayouts/slideLayout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10.png"/><Relationship Id="rId3" Type="http://schemas.openxmlformats.org/officeDocument/2006/relationships/slideLayout" Target="../slideLayouts/slideLayout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2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2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2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slideLayout" Target="../slideLayouts/slideLayout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slideLayout" Target="../slideLayouts/slideLayout2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slideLayout" Target="../slideLayouts/slideLayout2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slideLayout" Target="../slideLayouts/slideLayout2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18.png"/><Relationship Id="rId2" Type="http://schemas.openxmlformats.org/officeDocument/2006/relationships/slideLayout" Target="../slideLayouts/slideLayout2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19.png"/><Relationship Id="rId2" Type="http://schemas.openxmlformats.org/officeDocument/2006/relationships/slideLayout" Target="../slideLayouts/slideLayout2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20.jpeg"/><Relationship Id="rId2" Type="http://schemas.openxmlformats.org/officeDocument/2006/relationships/slideLayout" Target="../slideLayouts/slideLayout2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21.jpeg"/><Relationship Id="rId2" Type="http://schemas.openxmlformats.org/officeDocument/2006/relationships/slideLayout" Target="../slideLayouts/slideLayout2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22.jpeg"/><Relationship Id="rId2" Type="http://schemas.openxmlformats.org/officeDocument/2006/relationships/slideLayout" Target="../slideLayouts/slideLayout2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23.png"/><Relationship Id="rId2" Type="http://schemas.openxmlformats.org/officeDocument/2006/relationships/slideLayout" Target="../slideLayouts/slideLayout2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image" Target="../media/image24.jpeg"/><Relationship Id="rId2" Type="http://schemas.openxmlformats.org/officeDocument/2006/relationships/slideLayout" Target="../slideLayouts/slideLayout2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 txBox="1"/>
          <p:nvPr/>
        </p:nvSpPr>
        <p:spPr>
          <a:xfrm>
            <a:off x="333720" y="1658520"/>
            <a:ext cx="9358920" cy="71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 anchorCtr="1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GB" sz="3800" spc="-1" strike="noStrike">
                <a:solidFill>
                  <a:srgbClr val="000000"/>
                </a:solidFill>
                <a:latin typeface="Times New Roman"/>
              </a:rPr>
              <a:t>FINAL YEAR PROJECT PRESENTATION</a:t>
            </a:r>
            <a:endParaRPr b="0" lang="en-US" sz="3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" name="PlaceHolder 2"/>
          <p:cNvSpPr txBox="1"/>
          <p:nvPr/>
        </p:nvSpPr>
        <p:spPr>
          <a:xfrm>
            <a:off x="0" y="2713320"/>
            <a:ext cx="9601200" cy="377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9999"/>
          </a:bodyPr>
          <a:p>
            <a:pPr marL="432000">
              <a:lnSpc>
                <a:spcPct val="150000"/>
              </a:lnSpc>
              <a:spcAft>
                <a:spcPts val="1057"/>
              </a:spcAft>
              <a:tabLst>
                <a:tab algn="l" pos="0"/>
              </a:tabLst>
            </a:pPr>
            <a:r>
              <a:rPr b="1" lang="en-GB" sz="3200" spc="-1" strike="noStrike">
                <a:solidFill>
                  <a:srgbClr val="000000"/>
                </a:solidFill>
                <a:latin typeface="Times New Roman"/>
              </a:rPr>
              <a:t>PROGRESS STAGE: </a:t>
            </a:r>
            <a:r>
              <a:rPr b="0" lang="en-GB" sz="3200" spc="-1" strike="noStrike">
                <a:solidFill>
                  <a:srgbClr val="000000"/>
                </a:solidFill>
                <a:latin typeface="Times New Roman"/>
              </a:rPr>
              <a:t>End of Semester 1</a:t>
            </a:r>
            <a:endParaRPr b="0" lang="en-US" sz="3200" spc="-1" strike="noStrike">
              <a:solidFill>
                <a:srgbClr val="000000"/>
              </a:solidFill>
              <a:latin typeface="Times New Roman"/>
            </a:endParaRPr>
          </a:p>
          <a:p>
            <a:pPr marL="432000">
              <a:lnSpc>
                <a:spcPct val="150000"/>
              </a:lnSpc>
              <a:spcAft>
                <a:spcPts val="1057"/>
              </a:spcAft>
              <a:tabLst>
                <a:tab algn="l" pos="0"/>
              </a:tabLst>
            </a:pPr>
            <a:r>
              <a:rPr b="1" lang="en-GB" sz="3200" spc="-1" strike="noStrike">
                <a:solidFill>
                  <a:srgbClr val="000000"/>
                </a:solidFill>
                <a:latin typeface="Times New Roman"/>
              </a:rPr>
              <a:t>CANDIDATE: </a:t>
            </a:r>
            <a:r>
              <a:rPr b="0" lang="en-GB" sz="3200" spc="-1" strike="noStrike">
                <a:solidFill>
                  <a:srgbClr val="000000"/>
                </a:solidFill>
                <a:latin typeface="Times New Roman"/>
              </a:rPr>
              <a:t>Musyani, Samuel Dan</a:t>
            </a:r>
            <a:endParaRPr b="0" lang="en-US" sz="3200" spc="-1" strike="noStrike">
              <a:solidFill>
                <a:srgbClr val="000000"/>
              </a:solidFill>
              <a:latin typeface="Times New Roman"/>
            </a:endParaRPr>
          </a:p>
          <a:p>
            <a:pPr marL="432000">
              <a:lnSpc>
                <a:spcPct val="150000"/>
              </a:lnSpc>
              <a:spcAft>
                <a:spcPts val="1057"/>
              </a:spcAft>
              <a:tabLst>
                <a:tab algn="l" pos="0"/>
              </a:tabLst>
            </a:pPr>
            <a:r>
              <a:rPr b="1" lang="en-GB" sz="3200" spc="-1" strike="noStrike">
                <a:solidFill>
                  <a:srgbClr val="000000"/>
                </a:solidFill>
                <a:latin typeface="Times New Roman"/>
              </a:rPr>
              <a:t>SUPERVISOR: </a:t>
            </a:r>
            <a:r>
              <a:rPr b="0" lang="en-GB" sz="3200" spc="-1" strike="noStrike">
                <a:solidFill>
                  <a:srgbClr val="000000"/>
                </a:solidFill>
                <a:latin typeface="Times New Roman"/>
              </a:rPr>
              <a:t>Dr. Hashim Iddi</a:t>
            </a:r>
            <a:endParaRPr b="0" lang="en-US" sz="3200" spc="-1" strike="noStrike">
              <a:solidFill>
                <a:srgbClr val="000000"/>
              </a:solidFill>
              <a:latin typeface="Times New Roman"/>
            </a:endParaRPr>
          </a:p>
          <a:p>
            <a:pPr marL="432000">
              <a:lnSpc>
                <a:spcPct val="150000"/>
              </a:lnSpc>
              <a:spcAft>
                <a:spcPts val="1057"/>
              </a:spcAft>
              <a:tabLst>
                <a:tab algn="l" pos="0"/>
              </a:tabLst>
            </a:pPr>
            <a:r>
              <a:rPr b="1" lang="en-GB" sz="3200" spc="-1" strike="noStrike">
                <a:solidFill>
                  <a:srgbClr val="000000"/>
                </a:solidFill>
                <a:latin typeface="Times New Roman"/>
              </a:rPr>
              <a:t>PROJECT TITLE: </a:t>
            </a:r>
            <a:r>
              <a:rPr b="0" lang="en-GB" sz="3200" spc="-1" strike="noStrike">
                <a:solidFill>
                  <a:srgbClr val="000000"/>
                </a:solidFill>
                <a:latin typeface="Times New Roman"/>
              </a:rPr>
              <a:t>Design and Implementation of an Automated ID Card Issuance System</a:t>
            </a:r>
            <a:endParaRPr b="0" lang="en-US" sz="3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548640" y="1371600"/>
            <a:ext cx="9071640" cy="107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GB" sz="4800" spc="-1" strike="noStrike">
                <a:solidFill>
                  <a:srgbClr val="000000"/>
                </a:solidFill>
                <a:latin typeface="Times New Roman"/>
              </a:rPr>
              <a:t>INTRODUCTION</a:t>
            </a:r>
            <a:endParaRPr b="0" lang="en-US" sz="4800" spc="-1" strike="noStrike">
              <a:solidFill>
                <a:srgbClr val="000000"/>
              </a:solidFill>
              <a:latin typeface="Open Sans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/>
          </p:nvPr>
        </p:nvSpPr>
        <p:spPr>
          <a:xfrm>
            <a:off x="457200" y="2747880"/>
            <a:ext cx="9071640" cy="438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 algn="just">
              <a:lnSpc>
                <a:spcPct val="150000"/>
              </a:lnSpc>
              <a:spcAft>
                <a:spcPts val="1057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800" spc="-1" strike="noStrike">
                <a:solidFill>
                  <a:srgbClr val="000000"/>
                </a:solidFill>
                <a:latin typeface="Times New Roman"/>
              </a:rPr>
              <a:t>The project aims to ease ID card issuance process for </a:t>
            </a:r>
            <a:r>
              <a:rPr b="0" lang="en-GB" sz="2800" spc="-1" strike="noStrike">
                <a:solidFill>
                  <a:srgbClr val="000000"/>
                </a:solidFill>
                <a:latin typeface="Times New Roman"/>
              </a:rPr>
              <a:t>registered students by developing a prototype of an </a:t>
            </a:r>
            <a:r>
              <a:rPr b="0" lang="en-GB" sz="2800" spc="-1" strike="noStrike">
                <a:solidFill>
                  <a:srgbClr val="000000"/>
                </a:solidFill>
                <a:latin typeface="Times New Roman"/>
              </a:rPr>
              <a:t>automated system</a:t>
            </a:r>
            <a:endParaRPr b="0" lang="en-US" sz="2800" spc="-1" strike="noStrike">
              <a:solidFill>
                <a:srgbClr val="000000"/>
              </a:solidFill>
              <a:latin typeface="Open Sans"/>
            </a:endParaRPr>
          </a:p>
          <a:p>
            <a:pPr marL="432000" indent="-324000" algn="just">
              <a:lnSpc>
                <a:spcPct val="150000"/>
              </a:lnSpc>
              <a:spcAft>
                <a:spcPts val="1057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800" spc="-1" strike="noStrike">
                <a:solidFill>
                  <a:srgbClr val="000000"/>
                </a:solidFill>
                <a:latin typeface="Times New Roman"/>
              </a:rPr>
              <a:t>Registered students will be able to return their expired cards, </a:t>
            </a:r>
            <a:r>
              <a:rPr b="0" lang="en-GB" sz="2800" spc="-1" strike="noStrike">
                <a:solidFill>
                  <a:srgbClr val="000000"/>
                </a:solidFill>
                <a:latin typeface="Times New Roman"/>
              </a:rPr>
              <a:t>and retrieve their valid ID cards  for that particular academic </a:t>
            </a:r>
            <a:r>
              <a:rPr b="0" lang="en-GB" sz="2800" spc="-1" strike="noStrike">
                <a:solidFill>
                  <a:srgbClr val="000000"/>
                </a:solidFill>
                <a:latin typeface="Times New Roman"/>
              </a:rPr>
              <a:t>year</a:t>
            </a:r>
            <a:endParaRPr b="0" lang="en-US" sz="2800" spc="-1" strike="noStrike">
              <a:solidFill>
                <a:srgbClr val="000000"/>
              </a:solidFill>
              <a:latin typeface="Open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548640" y="1481040"/>
            <a:ext cx="9071640" cy="896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GB" sz="4800" spc="-1" strike="noStrike">
                <a:solidFill>
                  <a:srgbClr val="000000"/>
                </a:solidFill>
                <a:latin typeface="Times New Roman"/>
              </a:rPr>
              <a:t>PROBLEM STATEMENT</a:t>
            </a:r>
            <a:endParaRPr b="0" lang="en-US" sz="4800" spc="-1" strike="noStrike">
              <a:solidFill>
                <a:srgbClr val="000000"/>
              </a:solidFill>
              <a:latin typeface="Open Sans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621000" y="5765400"/>
            <a:ext cx="9071640" cy="127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50000"/>
              </a:lnSpc>
              <a:spcAft>
                <a:spcPts val="1057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400" spc="-1" strike="noStrike">
                <a:solidFill>
                  <a:srgbClr val="000000"/>
                </a:solidFill>
                <a:latin typeface="Times New Roman"/>
              </a:rPr>
              <a:t>With high student volumes, narrow administrative working window leads to </a:t>
            </a:r>
            <a:r>
              <a:rPr b="0" lang="en-GB" sz="2400" spc="-1" strike="noStrike">
                <a:solidFill>
                  <a:srgbClr val="000000"/>
                </a:solidFill>
                <a:latin typeface="Times New Roman"/>
              </a:rPr>
              <a:t>long queues and delayed distribution</a:t>
            </a:r>
            <a:endParaRPr b="0" lang="en-US" sz="2400" spc="-1" strike="noStrike">
              <a:solidFill>
                <a:srgbClr val="000000"/>
              </a:solidFill>
              <a:latin typeface="Open Sans"/>
            </a:endParaRPr>
          </a:p>
        </p:txBody>
      </p:sp>
      <p:pic>
        <p:nvPicPr>
          <p:cNvPr id="24" name="" descr=""/>
          <p:cNvPicPr/>
          <p:nvPr/>
        </p:nvPicPr>
        <p:blipFill>
          <a:blip r:embed="rId1">
            <a:alphaModFix amt="0"/>
          </a:blip>
          <a:stretch/>
        </p:blipFill>
        <p:spPr>
          <a:xfrm>
            <a:off x="1005840" y="2522520"/>
            <a:ext cx="7918920" cy="3055320"/>
          </a:xfrm>
          <a:prstGeom prst="rect">
            <a:avLst/>
          </a:prstGeom>
          <a:ln w="10800">
            <a:noFill/>
          </a:ln>
          <a:effectLst>
            <a:outerShdw dist="18000" dir="5400000" blurRad="0" rotWithShape="0">
              <a:srgbClr val="808080">
                <a:alpha val="0"/>
              </a:srgbClr>
            </a:outerShdw>
          </a:effectLst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548640" y="1389600"/>
            <a:ext cx="9071640" cy="107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GB" sz="4800" spc="-1" strike="noStrike">
                <a:solidFill>
                  <a:srgbClr val="000000"/>
                </a:solidFill>
                <a:latin typeface="Times New Roman"/>
              </a:rPr>
              <a:t>PROPOSED SOLUTIONS</a:t>
            </a:r>
            <a:endParaRPr b="0" lang="en-US" sz="4800" spc="-1" strike="noStrike">
              <a:solidFill>
                <a:srgbClr val="000000"/>
              </a:solidFill>
              <a:latin typeface="Open Sans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 type="subTitle"/>
          </p:nvPr>
        </p:nvSpPr>
        <p:spPr>
          <a:xfrm>
            <a:off x="457200" y="2377440"/>
            <a:ext cx="9071640" cy="457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spcAft>
                <a:spcPts val="1057"/>
              </a:spcAft>
              <a:buNone/>
              <a:tabLst>
                <a:tab algn="l" pos="0"/>
              </a:tabLst>
            </a:pPr>
            <a:r>
              <a:rPr b="0" lang="en-GB" sz="2800" spc="-1" strike="noStrike">
                <a:solidFill>
                  <a:srgbClr val="000000"/>
                </a:solidFill>
                <a:latin typeface="Times New Roman"/>
              </a:rPr>
              <a:t>An automated card issuance system, with:</a:t>
            </a:r>
            <a:endParaRPr b="0" lang="en-US" sz="2800" spc="-1" strike="noStrike">
              <a:solidFill>
                <a:srgbClr val="000000"/>
              </a:solidFill>
              <a:latin typeface="Open Sans"/>
            </a:endParaRPr>
          </a:p>
        </p:txBody>
      </p:sp>
      <p:sp>
        <p:nvSpPr>
          <p:cNvPr id="27" name=""/>
          <p:cNvSpPr/>
          <p:nvPr/>
        </p:nvSpPr>
        <p:spPr>
          <a:xfrm>
            <a:off x="793080" y="3224520"/>
            <a:ext cx="3778920" cy="1438920"/>
          </a:xfrm>
          <a:prstGeom prst="flowChartAlternateProcess">
            <a:avLst/>
          </a:prstGeom>
          <a:solidFill>
            <a:srgbClr val="ffffff"/>
          </a:solidFill>
          <a:ln w="10800">
            <a:solidFill>
              <a:srgbClr val="808080"/>
            </a:solidFill>
            <a:round/>
          </a:ln>
          <a:effectLst>
            <a:outerShdw dir="2700000" dist="101823" rotWithShape="0">
              <a:srgbClr val="808080"/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50000"/>
              </a:lnSpc>
            </a:pPr>
            <a:r>
              <a:rPr b="1" lang="en-GB" sz="20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Automated reliable dispensing:</a:t>
            </a:r>
            <a:endParaRPr b="0" lang="en-US" sz="2000" spc="-1" strike="noStrike">
              <a:solidFill>
                <a:srgbClr val="000000"/>
              </a:solidFill>
              <a:latin typeface="Open Sans"/>
            </a:endParaRPr>
          </a:p>
          <a:p>
            <a:pPr algn="ctr">
              <a:lnSpc>
                <a:spcPct val="150000"/>
              </a:lnSpc>
            </a:pPr>
            <a:r>
              <a:rPr b="0" lang="en-GB" sz="20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Sorts and distributes cards </a:t>
            </a:r>
            <a:endParaRPr b="0" lang="en-US" sz="2000" spc="-1" strike="noStrike">
              <a:solidFill>
                <a:srgbClr val="000000"/>
              </a:solidFill>
              <a:latin typeface="Open Sans"/>
            </a:endParaRPr>
          </a:p>
          <a:p>
            <a:pPr algn="ctr">
              <a:lnSpc>
                <a:spcPct val="150000"/>
              </a:lnSpc>
            </a:pPr>
            <a:r>
              <a:rPr b="0" lang="en-GB" sz="20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24/7 with real-time control</a:t>
            </a:r>
            <a:endParaRPr b="0" lang="en-US" sz="2000" spc="-1" strike="noStrike">
              <a:solidFill>
                <a:srgbClr val="000000"/>
              </a:solidFill>
              <a:latin typeface="Open Sans"/>
            </a:endParaRPr>
          </a:p>
        </p:txBody>
      </p:sp>
      <p:sp>
        <p:nvSpPr>
          <p:cNvPr id="28" name=""/>
          <p:cNvSpPr/>
          <p:nvPr/>
        </p:nvSpPr>
        <p:spPr>
          <a:xfrm>
            <a:off x="822960" y="5056200"/>
            <a:ext cx="3778920" cy="1618920"/>
          </a:xfrm>
          <a:prstGeom prst="flowChartAlternateProcess">
            <a:avLst/>
          </a:prstGeom>
          <a:solidFill>
            <a:srgbClr val="ffffff"/>
          </a:solidFill>
          <a:ln w="10800">
            <a:solidFill>
              <a:srgbClr val="808080"/>
            </a:solidFill>
            <a:round/>
          </a:ln>
          <a:effectLst>
            <a:outerShdw dir="2700000" dist="101823" rotWithShape="0">
              <a:srgbClr val="808080"/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 anchorCtr="1">
            <a:noAutofit/>
          </a:bodyPr>
          <a:p>
            <a:pPr algn="ctr">
              <a:lnSpc>
                <a:spcPct val="150000"/>
              </a:lnSpc>
            </a:pPr>
            <a:r>
              <a:rPr b="1" lang="en-GB" sz="20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Computer Vision:</a:t>
            </a:r>
            <a:endParaRPr b="0" lang="en-US" sz="2000" spc="-1" strike="noStrike">
              <a:solidFill>
                <a:srgbClr val="000000"/>
              </a:solidFill>
              <a:latin typeface="Open Sans"/>
            </a:endParaRPr>
          </a:p>
          <a:p>
            <a:pPr algn="ctr">
              <a:lnSpc>
                <a:spcPct val="150000"/>
              </a:lnSpc>
            </a:pPr>
            <a:r>
              <a:rPr b="0" lang="en-GB" sz="20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Automated card details verification</a:t>
            </a:r>
            <a:endParaRPr b="0" lang="en-US" sz="2000" spc="-1" strike="noStrike">
              <a:solidFill>
                <a:srgbClr val="000000"/>
              </a:solidFill>
              <a:latin typeface="Open Sans"/>
            </a:endParaRPr>
          </a:p>
          <a:p>
            <a:pPr algn="ctr">
              <a:lnSpc>
                <a:spcPct val="150000"/>
              </a:lnSpc>
            </a:pPr>
            <a:r>
              <a:rPr b="0" lang="en-GB" sz="20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for sorting and distribution</a:t>
            </a:r>
            <a:endParaRPr b="0" lang="en-US" sz="2000" spc="-1" strike="noStrike">
              <a:solidFill>
                <a:srgbClr val="000000"/>
              </a:solidFill>
              <a:latin typeface="Open Sans"/>
            </a:endParaRPr>
          </a:p>
        </p:txBody>
      </p:sp>
      <p:sp>
        <p:nvSpPr>
          <p:cNvPr id="29" name=""/>
          <p:cNvSpPr/>
          <p:nvPr/>
        </p:nvSpPr>
        <p:spPr>
          <a:xfrm>
            <a:off x="5486400" y="3224520"/>
            <a:ext cx="3778920" cy="1438920"/>
          </a:xfrm>
          <a:prstGeom prst="flowChartAlternateProcess">
            <a:avLst/>
          </a:prstGeom>
          <a:solidFill>
            <a:srgbClr val="ffffff"/>
          </a:solidFill>
          <a:ln w="10800">
            <a:solidFill>
              <a:srgbClr val="808080"/>
            </a:solidFill>
            <a:round/>
          </a:ln>
          <a:effectLst>
            <a:outerShdw dir="2700000" dist="101823" rotWithShape="0">
              <a:srgbClr val="808080"/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50000"/>
              </a:lnSpc>
            </a:pPr>
            <a:r>
              <a:rPr b="1" lang="en-GB" sz="20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Secure Authentication:</a:t>
            </a:r>
            <a:endParaRPr b="0" lang="en-US" sz="2000" spc="-1" strike="noStrike">
              <a:solidFill>
                <a:srgbClr val="000000"/>
              </a:solidFill>
              <a:latin typeface="Open Sans"/>
            </a:endParaRPr>
          </a:p>
          <a:p>
            <a:pPr algn="ctr">
              <a:lnSpc>
                <a:spcPct val="150000"/>
              </a:lnSpc>
            </a:pPr>
            <a:r>
              <a:rPr b="0" lang="en-GB" sz="20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OTP and PIN for student </a:t>
            </a:r>
            <a:endParaRPr b="0" lang="en-US" sz="2000" spc="-1" strike="noStrike">
              <a:solidFill>
                <a:srgbClr val="000000"/>
              </a:solidFill>
              <a:latin typeface="Open Sans"/>
            </a:endParaRPr>
          </a:p>
          <a:p>
            <a:pPr algn="ctr">
              <a:lnSpc>
                <a:spcPct val="150000"/>
              </a:lnSpc>
            </a:pPr>
            <a:r>
              <a:rPr b="0" lang="en-GB" sz="20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verification</a:t>
            </a:r>
            <a:endParaRPr b="0" lang="en-US" sz="2000" spc="-1" strike="noStrike">
              <a:solidFill>
                <a:srgbClr val="000000"/>
              </a:solidFill>
              <a:latin typeface="Open Sans"/>
            </a:endParaRPr>
          </a:p>
        </p:txBody>
      </p:sp>
      <p:sp>
        <p:nvSpPr>
          <p:cNvPr id="30" name=""/>
          <p:cNvSpPr/>
          <p:nvPr/>
        </p:nvSpPr>
        <p:spPr>
          <a:xfrm>
            <a:off x="5486400" y="5029200"/>
            <a:ext cx="3778920" cy="1618920"/>
          </a:xfrm>
          <a:prstGeom prst="flowChartAlternateProcess">
            <a:avLst/>
          </a:prstGeom>
          <a:solidFill>
            <a:srgbClr val="ffffff"/>
          </a:solidFill>
          <a:ln w="10800">
            <a:solidFill>
              <a:srgbClr val="808080"/>
            </a:solidFill>
            <a:round/>
          </a:ln>
          <a:effectLst>
            <a:outerShdw dir="2700000" dist="101823" rotWithShape="0">
              <a:srgbClr val="808080"/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50000"/>
              </a:lnSpc>
            </a:pPr>
            <a:r>
              <a:rPr b="1" lang="en-GB" sz="21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Audit logging:</a:t>
            </a:r>
            <a:endParaRPr b="0" lang="en-US" sz="2100" spc="-1" strike="noStrike">
              <a:solidFill>
                <a:srgbClr val="000000"/>
              </a:solidFill>
              <a:latin typeface="Open Sans"/>
            </a:endParaRPr>
          </a:p>
          <a:p>
            <a:pPr algn="ctr">
              <a:lnSpc>
                <a:spcPct val="150000"/>
              </a:lnSpc>
            </a:pPr>
            <a:r>
              <a:rPr b="0" lang="en-GB" sz="21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Record all activities happening </a:t>
            </a:r>
            <a:endParaRPr b="0" lang="en-US" sz="2100" spc="-1" strike="noStrike">
              <a:solidFill>
                <a:srgbClr val="000000"/>
              </a:solidFill>
              <a:latin typeface="Open Sans"/>
            </a:endParaRPr>
          </a:p>
          <a:p>
            <a:pPr algn="ctr">
              <a:lnSpc>
                <a:spcPct val="150000"/>
              </a:lnSpc>
            </a:pPr>
            <a:r>
              <a:rPr b="0" lang="en-GB" sz="21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for debugging and tracking</a:t>
            </a:r>
            <a:endParaRPr b="0" lang="en-US" sz="2100" spc="-1" strike="noStrike">
              <a:solidFill>
                <a:srgbClr val="000000"/>
              </a:solidFill>
              <a:latin typeface="Open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3"/>
          <p:cNvSpPr txBox="1"/>
          <p:nvPr/>
        </p:nvSpPr>
        <p:spPr>
          <a:xfrm>
            <a:off x="425160" y="1554480"/>
            <a:ext cx="9358920" cy="71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 anchorCtr="1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GB" sz="4800" spc="-1" strike="noStrike">
                <a:solidFill>
                  <a:srgbClr val="000000"/>
                </a:solidFill>
                <a:latin typeface="Times New Roman"/>
              </a:rPr>
              <a:t>OBJECTIVES</a:t>
            </a:r>
            <a:endParaRPr b="0" lang="en-US" sz="4800" spc="-1" strike="noStrike">
              <a:solidFill>
                <a:srgbClr val="000000"/>
              </a:solidFill>
              <a:latin typeface="Open Sans"/>
            </a:endParaRPr>
          </a:p>
        </p:txBody>
      </p:sp>
      <p:sp>
        <p:nvSpPr>
          <p:cNvPr id="32" name="PlaceHolder 4"/>
          <p:cNvSpPr txBox="1"/>
          <p:nvPr/>
        </p:nvSpPr>
        <p:spPr>
          <a:xfrm>
            <a:off x="425160" y="2588760"/>
            <a:ext cx="9358920" cy="377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3333"/>
          </a:bodyPr>
          <a:p>
            <a:pPr>
              <a:lnSpc>
                <a:spcPct val="150000"/>
              </a:lnSpc>
              <a:spcAft>
                <a:spcPts val="1057"/>
              </a:spcAft>
              <a:tabLst>
                <a:tab algn="l" pos="0"/>
              </a:tabLst>
            </a:pPr>
            <a:r>
              <a:rPr b="0" lang="en-GB" sz="2400" spc="-1" strike="noStrike">
                <a:solidFill>
                  <a:srgbClr val="000000"/>
                </a:solidFill>
                <a:latin typeface="Times New Roman"/>
              </a:rPr>
              <a:t>Main Objective: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50000"/>
              </a:lnSpc>
              <a:spcAft>
                <a:spcPts val="1057"/>
              </a:spcAft>
              <a:buClr>
                <a:srgbClr val="2c3e5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GB" sz="2400" spc="-1" strike="noStrike">
                <a:solidFill>
                  <a:srgbClr val="000000"/>
                </a:solidFill>
                <a:latin typeface="Times New Roman"/>
              </a:rPr>
              <a:t>To design and implement an Automated ID card Issuance System</a:t>
            </a:r>
            <a:endParaRPr b="0" lang="en-US" sz="2400" spc="-1" strike="noStrike">
              <a:solidFill>
                <a:srgbClr val="000000"/>
              </a:solidFill>
              <a:latin typeface="Open Sans"/>
            </a:endParaRPr>
          </a:p>
          <a:p>
            <a:pPr>
              <a:lnSpc>
                <a:spcPct val="150000"/>
              </a:lnSpc>
              <a:spcAft>
                <a:spcPts val="1057"/>
              </a:spcAft>
              <a:tabLst>
                <a:tab algn="l" pos="0"/>
              </a:tabLst>
            </a:pPr>
            <a:r>
              <a:rPr b="0" lang="en-GB" sz="2400" spc="-1" strike="noStrike">
                <a:solidFill>
                  <a:srgbClr val="000000"/>
                </a:solidFill>
                <a:latin typeface="Times New Roman"/>
              </a:rPr>
              <a:t>Specific Objectives: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50000"/>
              </a:lnSpc>
              <a:spcAft>
                <a:spcPts val="1057"/>
              </a:spcAft>
              <a:buClr>
                <a:srgbClr val="2c3e5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GB" sz="2400" spc="-1" strike="noStrike">
                <a:solidFill>
                  <a:srgbClr val="000000"/>
                </a:solidFill>
                <a:latin typeface="Times New Roman"/>
              </a:rPr>
              <a:t>To implement robust authentication </a:t>
            </a:r>
            <a:endParaRPr b="0" lang="en-US" sz="2400" spc="-1" strike="noStrike">
              <a:solidFill>
                <a:srgbClr val="000000"/>
              </a:solidFill>
              <a:latin typeface="Open Sans"/>
            </a:endParaRPr>
          </a:p>
          <a:p>
            <a:pPr marL="432000" indent="-324000">
              <a:lnSpc>
                <a:spcPct val="150000"/>
              </a:lnSpc>
              <a:spcAft>
                <a:spcPts val="1057"/>
              </a:spcAft>
              <a:buClr>
                <a:srgbClr val="2c3e5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GB" sz="2400" spc="-1" strike="noStrike">
                <a:solidFill>
                  <a:srgbClr val="000000"/>
                </a:solidFill>
                <a:latin typeface="Times New Roman"/>
              </a:rPr>
              <a:t>To implement an actuator control system</a:t>
            </a:r>
            <a:endParaRPr b="0" lang="en-US" sz="2400" spc="-1" strike="noStrike">
              <a:solidFill>
                <a:srgbClr val="000000"/>
              </a:solidFill>
              <a:latin typeface="Open Sans"/>
            </a:endParaRPr>
          </a:p>
          <a:p>
            <a:pPr marL="432000" indent="-324000">
              <a:lnSpc>
                <a:spcPct val="150000"/>
              </a:lnSpc>
              <a:spcAft>
                <a:spcPts val="1057"/>
              </a:spcAft>
              <a:buClr>
                <a:srgbClr val="2c3e5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GB" sz="2400" spc="-1" strike="noStrike">
                <a:solidFill>
                  <a:srgbClr val="000000"/>
                </a:solidFill>
                <a:latin typeface="Times New Roman"/>
              </a:rPr>
              <a:t>To enforce security policy and audit logging</a:t>
            </a:r>
            <a:endParaRPr b="0" lang="en-US" sz="2400" spc="-1" strike="noStrike">
              <a:solidFill>
                <a:srgbClr val="000000"/>
              </a:solidFill>
              <a:latin typeface="Open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5"/>
          <p:cNvSpPr txBox="1"/>
          <p:nvPr/>
        </p:nvSpPr>
        <p:spPr>
          <a:xfrm>
            <a:off x="457200" y="1371600"/>
            <a:ext cx="9358920" cy="71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 anchorCtr="1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GB" sz="4800" spc="-1" strike="noStrike">
                <a:solidFill>
                  <a:srgbClr val="000000"/>
                </a:solidFill>
                <a:latin typeface="Times New Roman"/>
              </a:rPr>
              <a:t>SYSTEM ARCHITECTURE</a:t>
            </a:r>
            <a:endParaRPr b="0" lang="en-US" sz="4800" spc="-1" strike="noStrike">
              <a:solidFill>
                <a:srgbClr val="000000"/>
              </a:solidFill>
              <a:latin typeface="Open Sans"/>
            </a:endParaRPr>
          </a:p>
        </p:txBody>
      </p:sp>
      <p:pic>
        <p:nvPicPr>
          <p:cNvPr id="34" name="" descr=""/>
          <p:cNvPicPr/>
          <p:nvPr/>
        </p:nvPicPr>
        <p:blipFill>
          <a:blip r:embed="rId1">
            <a:alphaModFix amt="0"/>
          </a:blip>
          <a:stretch/>
        </p:blipFill>
        <p:spPr>
          <a:xfrm>
            <a:off x="548640" y="2006640"/>
            <a:ext cx="9165240" cy="5582880"/>
          </a:xfrm>
          <a:prstGeom prst="rect">
            <a:avLst/>
          </a:prstGeom>
          <a:ln w="0">
            <a:noFill/>
          </a:ln>
          <a:effectLst>
            <a:outerShdw dist="18000" dir="5400000" blurRad="0" rotWithShape="0">
              <a:srgbClr val="808080">
                <a:alpha val="0"/>
              </a:srgbClr>
            </a:outerShdw>
          </a:effectLst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548640" y="1481040"/>
            <a:ext cx="9071640" cy="1262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1" lang="en-US" sz="4800" spc="-1" strike="noStrike">
                <a:solidFill>
                  <a:srgbClr val="000000"/>
                </a:solidFill>
                <a:latin typeface="Times New Roman"/>
              </a:rPr>
              <a:t>COMPUTER VISION PIPELINE</a:t>
            </a:r>
            <a:endParaRPr b="1" lang="en-US" sz="48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36" name="" descr=""/>
          <p:cNvPicPr/>
          <p:nvPr/>
        </p:nvPicPr>
        <p:blipFill>
          <a:blip r:embed="rId1">
            <a:alphaModFix amt="0"/>
          </a:blip>
          <a:stretch/>
        </p:blipFill>
        <p:spPr>
          <a:xfrm>
            <a:off x="0" y="2399400"/>
            <a:ext cx="9966960" cy="1258200"/>
          </a:xfrm>
          <a:prstGeom prst="rect">
            <a:avLst/>
          </a:prstGeom>
          <a:ln w="0">
            <a:noFill/>
          </a:ln>
          <a:effectLst>
            <a:outerShdw dist="18000" dir="5400000" blurRad="0" rotWithShape="0">
              <a:srgbClr val="808080">
                <a:alpha val="0"/>
              </a:srgbClr>
            </a:outerShdw>
          </a:effectLst>
        </p:spPr>
      </p:pic>
      <p:pic>
        <p:nvPicPr>
          <p:cNvPr id="37" name="" descr=""/>
          <p:cNvPicPr/>
          <p:nvPr/>
        </p:nvPicPr>
        <p:blipFill>
          <a:blip r:embed="rId2">
            <a:alphaModFix amt="0"/>
          </a:blip>
          <a:srcRect l="6077" t="30950" r="5565" b="25503"/>
          <a:stretch/>
        </p:blipFill>
        <p:spPr>
          <a:xfrm>
            <a:off x="95760" y="3862800"/>
            <a:ext cx="2830320" cy="1806480"/>
          </a:xfrm>
          <a:prstGeom prst="rect">
            <a:avLst/>
          </a:prstGeom>
          <a:ln w="0">
            <a:noFill/>
          </a:ln>
          <a:effectLst>
            <a:outerShdw dist="18000" dir="5400000" blurRad="0" rotWithShape="0">
              <a:srgbClr val="808080">
                <a:alpha val="0"/>
              </a:srgbClr>
            </a:outerShdw>
          </a:effectLst>
        </p:spPr>
      </p:pic>
      <p:pic>
        <p:nvPicPr>
          <p:cNvPr id="38" name="" descr=""/>
          <p:cNvPicPr/>
          <p:nvPr/>
        </p:nvPicPr>
        <p:blipFill>
          <a:blip r:embed="rId3">
            <a:alphaModFix amt="0"/>
          </a:blip>
          <a:stretch/>
        </p:blipFill>
        <p:spPr>
          <a:xfrm>
            <a:off x="3593160" y="3848040"/>
            <a:ext cx="2761560" cy="1725840"/>
          </a:xfrm>
          <a:prstGeom prst="rect">
            <a:avLst/>
          </a:prstGeom>
          <a:ln w="0">
            <a:noFill/>
          </a:ln>
          <a:effectLst>
            <a:outerShdw dist="18000" dir="5400000" blurRad="0" rotWithShape="0">
              <a:srgbClr val="808080">
                <a:alpha val="0"/>
              </a:srgbClr>
            </a:outerShdw>
          </a:effectLst>
        </p:spPr>
      </p:pic>
      <p:pic>
        <p:nvPicPr>
          <p:cNvPr id="39" name="" descr=""/>
          <p:cNvPicPr/>
          <p:nvPr/>
        </p:nvPicPr>
        <p:blipFill>
          <a:blip r:embed="rId4">
            <a:alphaModFix amt="0"/>
          </a:blip>
          <a:srcRect l="66342" t="0" r="0" b="0"/>
          <a:stretch/>
        </p:blipFill>
        <p:spPr>
          <a:xfrm>
            <a:off x="7236000" y="4427640"/>
            <a:ext cx="2365200" cy="418680"/>
          </a:xfrm>
          <a:prstGeom prst="rect">
            <a:avLst/>
          </a:prstGeom>
          <a:ln w="0">
            <a:noFill/>
          </a:ln>
          <a:effectLst>
            <a:outerShdw dist="18000" dir="5400000" blurRad="0" rotWithShape="0">
              <a:srgbClr val="808080">
                <a:alpha val="0"/>
              </a:srgbClr>
            </a:outerShdw>
          </a:effectLst>
        </p:spPr>
      </p:pic>
      <p:sp>
        <p:nvSpPr>
          <p:cNvPr id="40" name=""/>
          <p:cNvSpPr/>
          <p:nvPr/>
        </p:nvSpPr>
        <p:spPr>
          <a:xfrm flipV="1">
            <a:off x="6492240" y="4480560"/>
            <a:ext cx="548640" cy="365760"/>
          </a:xfrm>
          <a:prstGeom prst="rightArrow">
            <a:avLst>
              <a:gd name="adj1" fmla="val 30972"/>
              <a:gd name="adj2" fmla="val 56914"/>
            </a:avLst>
          </a:prstGeom>
          <a:solidFill>
            <a:srgbClr val="000000"/>
          </a:solidFill>
          <a:ln w="0">
            <a:solidFill>
              <a:srgbClr val="3465a4"/>
            </a:solidFill>
          </a:ln>
          <a:effectLst>
            <a:outerShdw dist="18000" dir="5400000" blurRad="0" rotWithShape="0">
              <a:srgbClr val="808080"/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41" name=""/>
          <p:cNvSpPr/>
          <p:nvPr/>
        </p:nvSpPr>
        <p:spPr>
          <a:xfrm flipV="1">
            <a:off x="3017520" y="4489560"/>
            <a:ext cx="548640" cy="365760"/>
          </a:xfrm>
          <a:prstGeom prst="rightArrow">
            <a:avLst>
              <a:gd name="adj1" fmla="val 30972"/>
              <a:gd name="adj2" fmla="val 56914"/>
            </a:avLst>
          </a:prstGeom>
          <a:solidFill>
            <a:srgbClr val="000000"/>
          </a:solidFill>
          <a:ln w="0">
            <a:solidFill>
              <a:srgbClr val="3465a4"/>
            </a:solidFill>
          </a:ln>
          <a:effectLst>
            <a:outerShdw dist="18000" dir="5400000" blurRad="0" rotWithShape="0">
              <a:srgbClr val="808080"/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Open Sans"/>
            </a:endParaRPr>
          </a:p>
        </p:txBody>
      </p:sp>
      <p:pic>
        <p:nvPicPr>
          <p:cNvPr id="42" name="" descr=""/>
          <p:cNvPicPr/>
          <p:nvPr/>
        </p:nvPicPr>
        <p:blipFill>
          <a:blip r:embed="rId5">
            <a:alphaModFix amt="0"/>
          </a:blip>
          <a:stretch/>
        </p:blipFill>
        <p:spPr>
          <a:xfrm>
            <a:off x="2743200" y="6035040"/>
            <a:ext cx="4278960" cy="1358280"/>
          </a:xfrm>
          <a:prstGeom prst="rect">
            <a:avLst/>
          </a:prstGeom>
          <a:ln w="0">
            <a:noFill/>
          </a:ln>
          <a:effectLst>
            <a:outerShdw dist="18000" dir="5400000" blurRad="0" rotWithShape="0">
              <a:srgbClr val="808080">
                <a:alpha val="0"/>
              </a:srgbClr>
            </a:outerShdw>
          </a:effectLst>
        </p:spPr>
      </p:pic>
      <p:sp>
        <p:nvSpPr>
          <p:cNvPr id="43" name=""/>
          <p:cNvSpPr/>
          <p:nvPr/>
        </p:nvSpPr>
        <p:spPr>
          <a:xfrm>
            <a:off x="7772400" y="5394960"/>
            <a:ext cx="1188720" cy="1828800"/>
          </a:xfrm>
          <a:custGeom>
            <a:avLst/>
            <a:gdLst>
              <a:gd name="textAreaLeft" fmla="*/ 335520 w 1188720"/>
              <a:gd name="textAreaRight" fmla="*/ 1011600 w 1188720"/>
              <a:gd name="textAreaTop" fmla="*/ 1124640 h 1828800"/>
              <a:gd name="textAreaBottom" fmla="*/ 1556280 h 1828800"/>
            </a:gdLst>
            <a:ahLst/>
            <a:rect l="textAreaLeft" t="textAreaTop" r="textAreaRight" b="textAreaBottom"/>
            <a:pathLst>
              <a:path w="21600" h="21600">
                <a:moveTo>
                  <a:pt x="0" y="15831"/>
                </a:moveTo>
                <a:lnTo>
                  <a:pt x="6098" y="10062"/>
                </a:lnTo>
                <a:lnTo>
                  <a:pt x="6098" y="13284"/>
                </a:lnTo>
                <a:lnTo>
                  <a:pt x="13284" y="13284"/>
                </a:lnTo>
                <a:lnTo>
                  <a:pt x="13284" y="6098"/>
                </a:lnTo>
                <a:lnTo>
                  <a:pt x="10062" y="6098"/>
                </a:lnTo>
                <a:lnTo>
                  <a:pt x="15831" y="0"/>
                </a:lnTo>
                <a:lnTo>
                  <a:pt x="21600" y="6098"/>
                </a:lnTo>
                <a:lnTo>
                  <a:pt x="18378" y="6098"/>
                </a:lnTo>
                <a:lnTo>
                  <a:pt x="18378" y="18378"/>
                </a:lnTo>
                <a:lnTo>
                  <a:pt x="6098" y="18378"/>
                </a:lnTo>
                <a:lnTo>
                  <a:pt x="6098" y="21600"/>
                </a:lnTo>
                <a:close/>
              </a:path>
            </a:pathLst>
          </a:custGeom>
          <a:solidFill>
            <a:srgbClr val="000000"/>
          </a:solidFill>
          <a:ln w="0">
            <a:solidFill>
              <a:srgbClr val="3465a4"/>
            </a:solidFill>
          </a:ln>
          <a:effectLst>
            <a:outerShdw dist="18000" dir="5400000" blurRad="0" rotWithShape="0">
              <a:srgbClr val="808080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Open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548640" y="1463040"/>
            <a:ext cx="9071640" cy="98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1" lang="en-US" sz="4800" spc="-1" strike="noStrike">
                <a:solidFill>
                  <a:srgbClr val="000000"/>
                </a:solidFill>
                <a:latin typeface="Times New Roman"/>
              </a:rPr>
              <a:t>2FA AUTH AND SMS GATEWAY</a:t>
            </a:r>
            <a:endParaRPr b="1" lang="en-US" sz="48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45" name="" descr=""/>
          <p:cNvPicPr/>
          <p:nvPr/>
        </p:nvPicPr>
        <p:blipFill>
          <a:blip r:embed="rId1">
            <a:alphaModFix amt="0"/>
          </a:blip>
          <a:stretch/>
        </p:blipFill>
        <p:spPr>
          <a:xfrm>
            <a:off x="0" y="2592360"/>
            <a:ext cx="5486400" cy="4722840"/>
          </a:xfrm>
          <a:prstGeom prst="rect">
            <a:avLst/>
          </a:prstGeom>
          <a:ln w="0">
            <a:noFill/>
          </a:ln>
          <a:effectLst>
            <a:outerShdw dist="18000" dir="5400000" blurRad="0" rotWithShape="0">
              <a:srgbClr val="808080">
                <a:alpha val="0"/>
              </a:srgbClr>
            </a:outerShdw>
          </a:effectLst>
        </p:spPr>
      </p:pic>
      <p:pic>
        <p:nvPicPr>
          <p:cNvPr id="46" name="" descr=""/>
          <p:cNvPicPr/>
          <p:nvPr/>
        </p:nvPicPr>
        <p:blipFill>
          <a:blip r:embed="rId2">
            <a:alphaModFix amt="0"/>
          </a:blip>
          <a:stretch/>
        </p:blipFill>
        <p:spPr>
          <a:xfrm>
            <a:off x="5561640" y="3108960"/>
            <a:ext cx="4405320" cy="3657600"/>
          </a:xfrm>
          <a:prstGeom prst="rect">
            <a:avLst/>
          </a:prstGeom>
          <a:ln w="0">
            <a:noFill/>
          </a:ln>
          <a:effectLst>
            <a:outerShdw dist="18000" dir="5400000" blurRad="0" rotWithShape="0">
              <a:srgbClr val="808080">
                <a:alpha val="0"/>
              </a:srgbClr>
            </a:outerShdw>
          </a:effectLst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529560" y="1280160"/>
            <a:ext cx="9071640" cy="914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1" lang="en-US" sz="4800" spc="-1" strike="noStrike">
                <a:solidFill>
                  <a:srgbClr val="000000"/>
                </a:solidFill>
                <a:latin typeface="Times New Roman"/>
              </a:rPr>
              <a:t>UI Design and State Transitions</a:t>
            </a:r>
            <a:endParaRPr b="1" lang="en-US" sz="48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48" name="" descr=""/>
          <p:cNvPicPr/>
          <p:nvPr/>
        </p:nvPicPr>
        <p:blipFill>
          <a:blip r:embed="rId1">
            <a:alphaModFix amt="0"/>
          </a:blip>
          <a:srcRect l="0" t="6457" r="0" b="0"/>
          <a:stretch/>
        </p:blipFill>
        <p:spPr>
          <a:xfrm>
            <a:off x="1005840" y="3026880"/>
            <a:ext cx="8293320" cy="4288320"/>
          </a:xfrm>
          <a:prstGeom prst="rect">
            <a:avLst/>
          </a:prstGeom>
          <a:ln w="0">
            <a:noFill/>
          </a:ln>
          <a:effectLst>
            <a:outerShdw dist="18000" dir="5400000" blurRad="0" rotWithShape="0">
              <a:srgbClr val="808080">
                <a:alpha val="0"/>
              </a:srgbClr>
            </a:outerShdw>
          </a:effectLst>
        </p:spPr>
      </p:pic>
      <p:sp>
        <p:nvSpPr>
          <p:cNvPr id="49" name=""/>
          <p:cNvSpPr txBox="1"/>
          <p:nvPr/>
        </p:nvSpPr>
        <p:spPr>
          <a:xfrm>
            <a:off x="621000" y="2468880"/>
            <a:ext cx="9071640" cy="3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530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4000" spc="-1" strike="noStrike">
                <a:solidFill>
                  <a:srgbClr val="000000"/>
                </a:solidFill>
                <a:latin typeface="Times New Roman"/>
              </a:rPr>
              <a:t>Idle Welcome Screen</a:t>
            </a:r>
            <a:endParaRPr b="0" lang="en-US" sz="4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548640" y="1481040"/>
            <a:ext cx="9071640" cy="622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600" spc="-1" strike="noStrike">
                <a:solidFill>
                  <a:srgbClr val="000000"/>
                </a:solidFill>
                <a:latin typeface="Times New Roman"/>
              </a:rPr>
              <a:t>OTP Entry Screen</a:t>
            </a:r>
            <a:endParaRPr b="0" lang="en-US" sz="26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51" name="" descr=""/>
          <p:cNvPicPr/>
          <p:nvPr/>
        </p:nvPicPr>
        <p:blipFill>
          <a:blip r:embed="rId1">
            <a:alphaModFix amt="0"/>
          </a:blip>
          <a:srcRect l="0" t="5645" r="0" b="0"/>
          <a:stretch/>
        </p:blipFill>
        <p:spPr>
          <a:xfrm>
            <a:off x="548640" y="2101680"/>
            <a:ext cx="9306360" cy="4939200"/>
          </a:xfrm>
          <a:prstGeom prst="rect">
            <a:avLst/>
          </a:prstGeom>
          <a:ln w="0">
            <a:noFill/>
          </a:ln>
          <a:effectLst>
            <a:outerShdw dist="18000" dir="5400000" blurRad="0" rotWithShape="0">
              <a:srgbClr val="808080">
                <a:alpha val="0"/>
              </a:srgbClr>
            </a:outerShdw>
          </a:effectLst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"/>
          <p:cNvSpPr txBox="1"/>
          <p:nvPr/>
        </p:nvSpPr>
        <p:spPr>
          <a:xfrm>
            <a:off x="549000" y="1490040"/>
            <a:ext cx="9071640" cy="622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600" spc="-1" strike="noStrike">
                <a:solidFill>
                  <a:srgbClr val="000000"/>
                </a:solidFill>
                <a:latin typeface="Times New Roman"/>
              </a:rPr>
              <a:t>PIN Entry Screen</a:t>
            </a:r>
            <a:endParaRPr b="0" lang="en-US" sz="26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53" name="" descr=""/>
          <p:cNvPicPr/>
          <p:nvPr/>
        </p:nvPicPr>
        <p:blipFill>
          <a:blip r:embed="rId1">
            <a:alphaModFix amt="0"/>
          </a:blip>
          <a:srcRect l="0" t="7055" r="0" b="0"/>
          <a:stretch/>
        </p:blipFill>
        <p:spPr>
          <a:xfrm>
            <a:off x="548640" y="2103120"/>
            <a:ext cx="9235440" cy="4937760"/>
          </a:xfrm>
          <a:prstGeom prst="rect">
            <a:avLst/>
          </a:prstGeom>
          <a:ln w="0">
            <a:noFill/>
          </a:ln>
          <a:effectLst>
            <a:outerShdw dist="18000" dir="5400000" blurRad="0" rotWithShape="0">
              <a:srgbClr val="808080">
                <a:alpha val="0"/>
              </a:srgbClr>
            </a:outerShdw>
          </a:effectLst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"/>
          <p:cNvSpPr txBox="1"/>
          <p:nvPr/>
        </p:nvSpPr>
        <p:spPr>
          <a:xfrm>
            <a:off x="549000" y="1490040"/>
            <a:ext cx="9071640" cy="622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600" spc="-1" strike="noStrike">
                <a:solidFill>
                  <a:srgbClr val="000000"/>
                </a:solidFill>
                <a:latin typeface="Times New Roman"/>
              </a:rPr>
              <a:t>Card Dispensing Screen</a:t>
            </a:r>
            <a:endParaRPr b="0" lang="en-US" sz="26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55" name="" descr=""/>
          <p:cNvPicPr/>
          <p:nvPr/>
        </p:nvPicPr>
        <p:blipFill>
          <a:blip r:embed="rId1">
            <a:alphaModFix amt="0"/>
          </a:blip>
          <a:srcRect l="0" t="5645" r="0" b="0"/>
          <a:stretch/>
        </p:blipFill>
        <p:spPr>
          <a:xfrm>
            <a:off x="549000" y="2110680"/>
            <a:ext cx="9306360" cy="4939200"/>
          </a:xfrm>
          <a:prstGeom prst="rect">
            <a:avLst/>
          </a:prstGeom>
          <a:ln w="0">
            <a:noFill/>
          </a:ln>
          <a:effectLst>
            <a:outerShdw dist="18000" dir="5400000" blurRad="0" rotWithShape="0">
              <a:srgbClr val="808080">
                <a:alpha val="0"/>
              </a:srgbClr>
            </a:outerShdw>
          </a:effectLst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"/>
          <p:cNvSpPr txBox="1"/>
          <p:nvPr/>
        </p:nvSpPr>
        <p:spPr>
          <a:xfrm>
            <a:off x="549000" y="1490040"/>
            <a:ext cx="9071640" cy="622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600" spc="-1" strike="noStrike">
                <a:solidFill>
                  <a:srgbClr val="000000"/>
                </a:solidFill>
                <a:latin typeface="Times New Roman"/>
              </a:rPr>
              <a:t>Confirmation Screen</a:t>
            </a:r>
            <a:endParaRPr b="0" lang="en-US" sz="26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57" name="" descr=""/>
          <p:cNvPicPr/>
          <p:nvPr/>
        </p:nvPicPr>
        <p:blipFill>
          <a:blip r:embed="rId1">
            <a:alphaModFix amt="0"/>
          </a:blip>
          <a:srcRect l="0" t="5645" r="0" b="0"/>
          <a:stretch/>
        </p:blipFill>
        <p:spPr>
          <a:xfrm>
            <a:off x="549000" y="2110680"/>
            <a:ext cx="9306360" cy="4939200"/>
          </a:xfrm>
          <a:prstGeom prst="rect">
            <a:avLst/>
          </a:prstGeom>
          <a:ln w="0">
            <a:noFill/>
          </a:ln>
          <a:effectLst>
            <a:outerShdw dist="18000" dir="5400000" blurRad="0" rotWithShape="0">
              <a:srgbClr val="808080">
                <a:alpha val="0"/>
              </a:srgbClr>
            </a:outerShdw>
          </a:effectLst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548640" y="1371600"/>
            <a:ext cx="9071640" cy="67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1" lang="en-US" sz="4800" spc="-1" strike="noStrike">
                <a:solidFill>
                  <a:srgbClr val="000000"/>
                </a:solidFill>
                <a:latin typeface="Times New Roman"/>
              </a:rPr>
              <a:t>Error Handling Screens</a:t>
            </a:r>
            <a:endParaRPr b="1" lang="en-US" sz="48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59" name="" descr=""/>
          <p:cNvPicPr/>
          <p:nvPr/>
        </p:nvPicPr>
        <p:blipFill>
          <a:blip r:embed="rId1">
            <a:alphaModFix amt="0"/>
          </a:blip>
          <a:srcRect l="0" t="5449" r="0" b="0"/>
          <a:stretch/>
        </p:blipFill>
        <p:spPr>
          <a:xfrm>
            <a:off x="914400" y="2649600"/>
            <a:ext cx="8944560" cy="4757040"/>
          </a:xfrm>
          <a:prstGeom prst="rect">
            <a:avLst/>
          </a:prstGeom>
          <a:ln w="0">
            <a:noFill/>
          </a:ln>
          <a:effectLst>
            <a:outerShdw dist="18000" dir="5400000" blurRad="0" rotWithShape="0">
              <a:srgbClr val="808080">
                <a:alpha val="0"/>
              </a:srgbClr>
            </a:outerShdw>
          </a:effectLst>
        </p:spPr>
      </p:pic>
      <p:sp>
        <p:nvSpPr>
          <p:cNvPr id="60" name=""/>
          <p:cNvSpPr txBox="1"/>
          <p:nvPr/>
        </p:nvSpPr>
        <p:spPr>
          <a:xfrm>
            <a:off x="457200" y="2011680"/>
            <a:ext cx="9071640" cy="622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600" spc="-1" strike="noStrike">
                <a:solidFill>
                  <a:srgbClr val="000000"/>
                </a:solidFill>
                <a:latin typeface="Times New Roman"/>
              </a:rPr>
              <a:t>Repeated registration number error</a:t>
            </a:r>
            <a:endParaRPr b="0" lang="en-US" sz="26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"/>
          <p:cNvSpPr txBox="1"/>
          <p:nvPr/>
        </p:nvSpPr>
        <p:spPr>
          <a:xfrm>
            <a:off x="457560" y="1481040"/>
            <a:ext cx="9071640" cy="622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600" spc="-1" strike="noStrike">
                <a:solidFill>
                  <a:srgbClr val="000000"/>
                </a:solidFill>
                <a:latin typeface="Times New Roman"/>
              </a:rPr>
              <a:t>Wrong registration number error</a:t>
            </a:r>
            <a:endParaRPr b="0" lang="en-US" sz="26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62" name="" descr=""/>
          <p:cNvPicPr/>
          <p:nvPr/>
        </p:nvPicPr>
        <p:blipFill>
          <a:blip r:embed="rId1">
            <a:alphaModFix amt="0"/>
          </a:blip>
          <a:srcRect l="0" t="5354" r="0" b="0"/>
          <a:stretch/>
        </p:blipFill>
        <p:spPr>
          <a:xfrm>
            <a:off x="586440" y="2284560"/>
            <a:ext cx="9106200" cy="4847760"/>
          </a:xfrm>
          <a:prstGeom prst="rect">
            <a:avLst/>
          </a:prstGeom>
          <a:ln w="0">
            <a:noFill/>
          </a:ln>
          <a:effectLst>
            <a:outerShdw dist="18000" dir="5400000" blurRad="0" rotWithShape="0">
              <a:srgbClr val="808080">
                <a:alpha val="0"/>
              </a:srgbClr>
            </a:outerShdw>
          </a:effectLst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"/>
          <p:cNvSpPr txBox="1"/>
          <p:nvPr/>
        </p:nvSpPr>
        <p:spPr>
          <a:xfrm>
            <a:off x="457920" y="1490040"/>
            <a:ext cx="9071640" cy="622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600" spc="-1" strike="noStrike">
                <a:solidFill>
                  <a:srgbClr val="000000"/>
                </a:solidFill>
                <a:latin typeface="Times New Roman"/>
              </a:rPr>
              <a:t>Wrong OTP error</a:t>
            </a:r>
            <a:endParaRPr b="0" lang="en-US" sz="26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64" name="" descr=""/>
          <p:cNvPicPr/>
          <p:nvPr/>
        </p:nvPicPr>
        <p:blipFill>
          <a:blip r:embed="rId1">
            <a:alphaModFix amt="0"/>
          </a:blip>
          <a:srcRect l="0" t="5354" r="0" b="0"/>
          <a:stretch/>
        </p:blipFill>
        <p:spPr>
          <a:xfrm>
            <a:off x="586800" y="2293560"/>
            <a:ext cx="9106200" cy="4847760"/>
          </a:xfrm>
          <a:prstGeom prst="rect">
            <a:avLst/>
          </a:prstGeom>
          <a:ln w="0">
            <a:noFill/>
          </a:ln>
          <a:effectLst>
            <a:outerShdw dist="18000" dir="5400000" blurRad="0" rotWithShape="0">
              <a:srgbClr val="808080">
                <a:alpha val="0"/>
              </a:srgbClr>
            </a:outerShdw>
          </a:effectLst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"/>
          <p:cNvSpPr txBox="1"/>
          <p:nvPr/>
        </p:nvSpPr>
        <p:spPr>
          <a:xfrm>
            <a:off x="458280" y="1499040"/>
            <a:ext cx="9071640" cy="622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600" spc="-1" strike="noStrike">
                <a:solidFill>
                  <a:srgbClr val="000000"/>
                </a:solidFill>
                <a:latin typeface="Times New Roman"/>
              </a:rPr>
              <a:t>Wrong PIN error</a:t>
            </a:r>
            <a:endParaRPr b="0" lang="en-US" sz="26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66" name="" descr=""/>
          <p:cNvPicPr/>
          <p:nvPr/>
        </p:nvPicPr>
        <p:blipFill>
          <a:blip r:embed="rId1">
            <a:alphaModFix amt="0"/>
          </a:blip>
          <a:srcRect l="0" t="5354" r="0" b="0"/>
          <a:stretch/>
        </p:blipFill>
        <p:spPr>
          <a:xfrm>
            <a:off x="587160" y="2302560"/>
            <a:ext cx="9106200" cy="4847760"/>
          </a:xfrm>
          <a:prstGeom prst="rect">
            <a:avLst/>
          </a:prstGeom>
          <a:ln w="0">
            <a:noFill/>
          </a:ln>
          <a:effectLst>
            <a:outerShdw dist="18000" dir="5400000" blurRad="0" rotWithShape="0">
              <a:srgbClr val="808080">
                <a:alpha val="0"/>
              </a:srgbClr>
            </a:outerShdw>
          </a:effectLst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731520" y="1389600"/>
            <a:ext cx="9071640" cy="896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1" lang="en-US" sz="4800" spc="-1" strike="noStrike">
                <a:solidFill>
                  <a:srgbClr val="000000"/>
                </a:solidFill>
                <a:latin typeface="Times New Roman"/>
              </a:rPr>
              <a:t>CIRCUIT DESIGN</a:t>
            </a:r>
            <a:endParaRPr b="1" lang="en-US" sz="48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68" name="" descr=""/>
          <p:cNvPicPr/>
          <p:nvPr/>
        </p:nvPicPr>
        <p:blipFill>
          <a:blip r:embed="rId1">
            <a:alphaModFix amt="0"/>
          </a:blip>
          <a:stretch/>
        </p:blipFill>
        <p:spPr>
          <a:xfrm>
            <a:off x="1280160" y="3200400"/>
            <a:ext cx="7772400" cy="3474720"/>
          </a:xfrm>
          <a:prstGeom prst="rect">
            <a:avLst/>
          </a:prstGeom>
          <a:ln w="0">
            <a:noFill/>
          </a:ln>
          <a:effectLst>
            <a:outerShdw dist="18000" dir="5400000" blurRad="0" rotWithShape="0">
              <a:srgbClr val="808080">
                <a:alpha val="0"/>
              </a:srgbClr>
            </a:outerShdw>
          </a:effectLst>
        </p:spPr>
      </p:pic>
      <p:sp>
        <p:nvSpPr>
          <p:cNvPr id="69" name=""/>
          <p:cNvSpPr txBox="1"/>
          <p:nvPr/>
        </p:nvSpPr>
        <p:spPr>
          <a:xfrm>
            <a:off x="621000" y="2304000"/>
            <a:ext cx="9071640" cy="622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600" spc="-1" strike="noStrike">
                <a:solidFill>
                  <a:srgbClr val="000000"/>
                </a:solidFill>
                <a:latin typeface="Times New Roman"/>
              </a:rPr>
              <a:t>Reverse polarity circuit</a:t>
            </a:r>
            <a:endParaRPr b="0" lang="en-US" sz="26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"/>
          <p:cNvSpPr txBox="1"/>
          <p:nvPr/>
        </p:nvSpPr>
        <p:spPr>
          <a:xfrm>
            <a:off x="731520" y="1398600"/>
            <a:ext cx="9071640" cy="896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1" lang="en-US" sz="4800" spc="-1" strike="noStrike">
                <a:solidFill>
                  <a:srgbClr val="000000"/>
                </a:solidFill>
                <a:latin typeface="Times New Roman"/>
              </a:rPr>
              <a:t>CIRCUIT DESIGN</a:t>
            </a:r>
            <a:endParaRPr b="1" lang="en-US" sz="48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71" name="" descr=""/>
          <p:cNvPicPr/>
          <p:nvPr/>
        </p:nvPicPr>
        <p:blipFill>
          <a:blip r:embed="rId1">
            <a:alphaModFix amt="0"/>
          </a:blip>
          <a:stretch/>
        </p:blipFill>
        <p:spPr>
          <a:xfrm>
            <a:off x="1280160" y="3209400"/>
            <a:ext cx="7772400" cy="3474720"/>
          </a:xfrm>
          <a:prstGeom prst="rect">
            <a:avLst/>
          </a:prstGeom>
          <a:ln w="0">
            <a:noFill/>
          </a:ln>
          <a:effectLst>
            <a:outerShdw dist="18000" dir="5400000" blurRad="0" rotWithShape="0">
              <a:srgbClr val="808080">
                <a:alpha val="0"/>
              </a:srgbClr>
            </a:outerShdw>
          </a:effectLst>
        </p:spPr>
      </p:pic>
      <p:sp>
        <p:nvSpPr>
          <p:cNvPr id="72" name=""/>
          <p:cNvSpPr txBox="1"/>
          <p:nvPr/>
        </p:nvSpPr>
        <p:spPr>
          <a:xfrm>
            <a:off x="621000" y="2313000"/>
            <a:ext cx="9071640" cy="622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600" spc="-1" strike="noStrike">
                <a:solidFill>
                  <a:srgbClr val="000000"/>
                </a:solidFill>
                <a:latin typeface="Times New Roman"/>
              </a:rPr>
              <a:t>XL4015 Buck Converter</a:t>
            </a:r>
            <a:endParaRPr b="0" lang="en-US" sz="26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"/>
          <p:cNvSpPr txBox="1"/>
          <p:nvPr/>
        </p:nvSpPr>
        <p:spPr>
          <a:xfrm>
            <a:off x="731520" y="1398600"/>
            <a:ext cx="9071640" cy="896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1" lang="en-US" sz="4800" spc="-1" strike="noStrike">
                <a:solidFill>
                  <a:srgbClr val="000000"/>
                </a:solidFill>
                <a:latin typeface="Times New Roman"/>
              </a:rPr>
              <a:t>PCB DESIGN</a:t>
            </a:r>
            <a:endParaRPr b="1" lang="en-US" sz="4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4" name=""/>
          <p:cNvSpPr txBox="1"/>
          <p:nvPr/>
        </p:nvSpPr>
        <p:spPr>
          <a:xfrm>
            <a:off x="621000" y="2313000"/>
            <a:ext cx="9071640" cy="622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600" spc="-1" strike="noStrike">
                <a:solidFill>
                  <a:srgbClr val="000000"/>
                </a:solidFill>
                <a:latin typeface="Times New Roman"/>
              </a:rPr>
              <a:t>Reverse polarity circuit</a:t>
            </a:r>
            <a:endParaRPr b="0" lang="en-US" sz="26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75" name="Picture 4" descr=""/>
          <p:cNvPicPr/>
          <p:nvPr/>
        </p:nvPicPr>
        <p:blipFill>
          <a:blip r:embed="rId1">
            <a:alphaModFix amt="0"/>
          </a:blip>
          <a:srcRect l="9994" t="0" r="11437" b="0"/>
          <a:stretch/>
        </p:blipFill>
        <p:spPr>
          <a:xfrm rot="5400000">
            <a:off x="3219840" y="543240"/>
            <a:ext cx="3734640" cy="8894160"/>
          </a:xfrm>
          <a:prstGeom prst="rect">
            <a:avLst/>
          </a:prstGeom>
          <a:ln w="0">
            <a:noFill/>
          </a:ln>
          <a:effectLst>
            <a:outerShdw dist="18000" dir="5400000" blurRad="0" rotWithShape="0">
              <a:srgbClr val="808080">
                <a:alpha val="0"/>
              </a:srgbClr>
            </a:outerShdw>
          </a:effectLst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"/>
          <p:cNvSpPr txBox="1"/>
          <p:nvPr/>
        </p:nvSpPr>
        <p:spPr>
          <a:xfrm>
            <a:off x="731520" y="1407960"/>
            <a:ext cx="9071640" cy="896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1" lang="en-US" sz="4800" spc="-1" strike="noStrike">
                <a:solidFill>
                  <a:srgbClr val="000000"/>
                </a:solidFill>
                <a:latin typeface="Times New Roman"/>
              </a:rPr>
              <a:t>PCB DESIGN</a:t>
            </a:r>
            <a:endParaRPr b="1" lang="en-US" sz="4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7" name=""/>
          <p:cNvSpPr txBox="1"/>
          <p:nvPr/>
        </p:nvSpPr>
        <p:spPr>
          <a:xfrm>
            <a:off x="621000" y="2322360"/>
            <a:ext cx="9071640" cy="622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600" spc="-1" strike="noStrike">
                <a:solidFill>
                  <a:srgbClr val="000000"/>
                </a:solidFill>
                <a:latin typeface="Times New Roman"/>
              </a:rPr>
              <a:t>XL4015 Buck Converter</a:t>
            </a:r>
            <a:endParaRPr b="0" lang="en-US" sz="26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78" name="" descr=""/>
          <p:cNvPicPr/>
          <p:nvPr/>
        </p:nvPicPr>
        <p:blipFill>
          <a:blip r:embed="rId1">
            <a:alphaModFix amt="0"/>
          </a:blip>
          <a:stretch/>
        </p:blipFill>
        <p:spPr>
          <a:xfrm>
            <a:off x="2377440" y="2944440"/>
            <a:ext cx="4937760" cy="4367520"/>
          </a:xfrm>
          <a:prstGeom prst="rect">
            <a:avLst/>
          </a:prstGeom>
          <a:ln w="0">
            <a:noFill/>
          </a:ln>
          <a:effectLst>
            <a:outerShdw dist="18000" dir="5400000" blurRad="0" rotWithShape="0">
              <a:srgbClr val="808080">
                <a:alpha val="0"/>
              </a:srgbClr>
            </a:outerShdw>
          </a:effectLst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548640" y="1481040"/>
            <a:ext cx="9071640" cy="1262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1" lang="en-US" sz="4800" spc="-1" strike="noStrike">
                <a:solidFill>
                  <a:srgbClr val="000000"/>
                </a:solidFill>
                <a:latin typeface="Times New Roman"/>
              </a:rPr>
              <a:t>ENCLOSURE DESIGN</a:t>
            </a:r>
            <a:endParaRPr b="1" lang="en-US" sz="48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80" name="" descr=""/>
          <p:cNvPicPr/>
          <p:nvPr/>
        </p:nvPicPr>
        <p:blipFill>
          <a:blip r:embed="rId1">
            <a:alphaModFix amt="0"/>
          </a:blip>
          <a:srcRect l="23292" t="1580" r="15741" b="0"/>
          <a:stretch/>
        </p:blipFill>
        <p:spPr>
          <a:xfrm rot="16223400">
            <a:off x="3220200" y="828720"/>
            <a:ext cx="3469680" cy="7440120"/>
          </a:xfrm>
          <a:prstGeom prst="rect">
            <a:avLst/>
          </a:prstGeom>
          <a:ln w="0">
            <a:noFill/>
          </a:ln>
          <a:effectLst>
            <a:outerShdw dist="18000" dir="5400000" blurRad="0" rotWithShape="0">
              <a:srgbClr val="808080">
                <a:alpha val="0"/>
              </a:srgbClr>
            </a:outerShdw>
          </a:effectLst>
        </p:spPr>
      </p:pic>
      <p:sp>
        <p:nvSpPr>
          <p:cNvPr id="81" name=""/>
          <p:cNvSpPr txBox="1"/>
          <p:nvPr/>
        </p:nvSpPr>
        <p:spPr>
          <a:xfrm>
            <a:off x="274320" y="6528960"/>
            <a:ext cx="9601200" cy="731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600" spc="-1" strike="noStrike">
                <a:solidFill>
                  <a:srgbClr val="000000"/>
                </a:solidFill>
                <a:latin typeface="Times New Roman"/>
              </a:rPr>
              <a:t>The enclosure is still in transformation to a final integrated prototype</a:t>
            </a:r>
            <a:endParaRPr b="0" lang="en-US" sz="26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548640" y="1481040"/>
            <a:ext cx="9071640" cy="1262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1" lang="en-US" sz="4800" spc="-1" strike="noStrike">
                <a:solidFill>
                  <a:srgbClr val="000000"/>
                </a:solidFill>
                <a:latin typeface="Times New Roman"/>
              </a:rPr>
              <a:t>Implementation Audit: ~70%</a:t>
            </a:r>
            <a:endParaRPr b="1" lang="en-US" sz="4800" spc="-1" strike="noStrike">
              <a:solidFill>
                <a:srgbClr val="000000"/>
              </a:solidFill>
              <a:latin typeface="Times New Roman"/>
            </a:endParaRPr>
          </a:p>
        </p:txBody>
      </p:sp>
      <p:graphicFrame>
        <p:nvGraphicFramePr>
          <p:cNvPr id="83" name=""/>
          <p:cNvGraphicFramePr/>
          <p:nvPr/>
        </p:nvGraphicFramePr>
        <p:xfrm>
          <a:off x="274320" y="2834640"/>
          <a:ext cx="9417960" cy="4217760"/>
        </p:xfrm>
        <a:graphic>
          <a:graphicData uri="http://schemas.openxmlformats.org/drawingml/2006/table">
            <a:tbl>
              <a:tblPr>
                <a:effectLst>
                  <a:outerShdw dist="18000" dir="5400000" blurRad="0" rotWithShape="0">
                    <a:srgbClr val="808080"/>
                  </a:outerShdw>
                </a:effectLst>
              </a:tblPr>
              <a:tblGrid>
                <a:gridCol w="5097960"/>
                <a:gridCol w="2228760"/>
                <a:gridCol w="2209680"/>
              </a:tblGrid>
              <a:tr h="587520">
                <a:tc>
                  <a:txBody>
                    <a:bodyPr lIns="36000" rIns="36000" tIns="36000" bIns="36000" anchor="t">
                      <a:noAutofit/>
                    </a:bodyPr>
                    <a:p>
                      <a:pPr indent="0" algn="ctr">
                        <a:buNone/>
                      </a:pPr>
                      <a:r>
                        <a:rPr b="1" lang="en-US" sz="2200" spc="-1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Objective</a:t>
                      </a:r>
                      <a:endParaRPr b="1" lang="en-US" sz="22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t" marL="36000" marR="36000">
                    <a:lnL w="7200">
                      <a:solidFill>
                        <a:srgbClr val="666666"/>
                      </a:solidFill>
                      <a:prstDash val="solid"/>
                    </a:lnL>
                    <a:lnR w="7200">
                      <a:solidFill>
                        <a:srgbClr val="666666"/>
                      </a:solidFill>
                      <a:prstDash val="solid"/>
                    </a:lnR>
                    <a:lnT w="7200">
                      <a:solidFill>
                        <a:srgbClr val="666666"/>
                      </a:solidFill>
                      <a:prstDash val="solid"/>
                    </a:lnT>
                    <a:lnB w="7200">
                      <a:solidFill>
                        <a:srgbClr val="666666"/>
                      </a:solidFill>
                      <a:prstDash val="solid"/>
                    </a:lnB>
                    <a:solidFill>
                      <a:srgbClr val="5983b0"/>
                    </a:solidFill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indent="0" algn="ctr">
                        <a:buNone/>
                      </a:pPr>
                      <a:r>
                        <a:rPr b="1" lang="en-US" sz="2200" spc="-1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Status</a:t>
                      </a:r>
                      <a:endParaRPr b="1" lang="en-US" sz="22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t" marL="36000" marR="36000">
                    <a:lnL w="7200">
                      <a:solidFill>
                        <a:srgbClr val="666666"/>
                      </a:solidFill>
                      <a:prstDash val="solid"/>
                    </a:lnL>
                    <a:lnR w="7200">
                      <a:solidFill>
                        <a:srgbClr val="666666"/>
                      </a:solidFill>
                      <a:prstDash val="solid"/>
                    </a:lnR>
                    <a:lnT w="7200">
                      <a:solidFill>
                        <a:srgbClr val="666666"/>
                      </a:solidFill>
                      <a:prstDash val="solid"/>
                    </a:lnT>
                    <a:lnB w="7200">
                      <a:solidFill>
                        <a:srgbClr val="666666"/>
                      </a:solidFill>
                      <a:prstDash val="solid"/>
                    </a:lnB>
                    <a:solidFill>
                      <a:srgbClr val="5983b0"/>
                    </a:solidFill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indent="0" algn="ctr">
                        <a:buNone/>
                      </a:pPr>
                      <a:r>
                        <a:rPr b="1" lang="en-US" sz="2200" spc="-1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Percent done</a:t>
                      </a:r>
                      <a:endParaRPr b="1" lang="en-US" sz="22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t" marL="36000" marR="36000">
                    <a:lnL w="7200">
                      <a:solidFill>
                        <a:srgbClr val="666666"/>
                      </a:solidFill>
                      <a:prstDash val="solid"/>
                    </a:lnL>
                    <a:lnR w="7200">
                      <a:solidFill>
                        <a:srgbClr val="666666"/>
                      </a:solidFill>
                      <a:prstDash val="solid"/>
                    </a:lnR>
                    <a:lnT w="7200">
                      <a:solidFill>
                        <a:srgbClr val="666666"/>
                      </a:solidFill>
                      <a:prstDash val="solid"/>
                    </a:lnT>
                    <a:lnB w="7200">
                      <a:solidFill>
                        <a:srgbClr val="666666"/>
                      </a:solidFill>
                      <a:prstDash val="solid"/>
                    </a:lnB>
                    <a:solidFill>
                      <a:srgbClr val="5983b0"/>
                    </a:solidFill>
                  </a:tcPr>
                </a:tc>
              </a:tr>
              <a:tr h="587520">
                <a:tc>
                  <a:txBody>
                    <a:bodyPr lIns="36000" rIns="36000" tIns="36000" bIns="36000" anchor="t">
                      <a:noAutofit/>
                    </a:bodyPr>
                    <a:p>
                      <a:pPr indent="0">
                        <a:buNone/>
                      </a:pPr>
                      <a:r>
                        <a:rPr b="0" lang="en-US" sz="2200" spc="-1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Reliable control systems for actuators</a:t>
                      </a:r>
                      <a:endParaRPr b="0" lang="en-US" sz="22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t" marL="36000" marR="36000">
                    <a:lnL w="7200">
                      <a:solidFill>
                        <a:srgbClr val="666666"/>
                      </a:solidFill>
                      <a:prstDash val="solid"/>
                    </a:lnL>
                    <a:lnR w="7200">
                      <a:solidFill>
                        <a:srgbClr val="666666"/>
                      </a:solidFill>
                      <a:prstDash val="solid"/>
                    </a:lnR>
                    <a:lnT w="7200">
                      <a:solidFill>
                        <a:srgbClr val="666666"/>
                      </a:solidFill>
                      <a:prstDash val="solid"/>
                    </a:lnT>
                    <a:lnB w="7200">
                      <a:solidFill>
                        <a:srgbClr val="666666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indent="0" algn="ctr">
                        <a:buNone/>
                      </a:pPr>
                      <a:r>
                        <a:rPr b="0" lang="en-US" sz="2200" spc="-1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In Progress</a:t>
                      </a:r>
                      <a:endParaRPr b="0" lang="en-US" sz="22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t" marL="36000" marR="36000">
                    <a:lnL w="7200">
                      <a:solidFill>
                        <a:srgbClr val="666666"/>
                      </a:solidFill>
                      <a:prstDash val="solid"/>
                    </a:lnL>
                    <a:lnR w="7200">
                      <a:solidFill>
                        <a:srgbClr val="666666"/>
                      </a:solidFill>
                      <a:prstDash val="solid"/>
                    </a:lnR>
                    <a:lnT w="7200">
                      <a:solidFill>
                        <a:srgbClr val="666666"/>
                      </a:solidFill>
                      <a:prstDash val="solid"/>
                    </a:lnT>
                    <a:lnB w="7200">
                      <a:solidFill>
                        <a:srgbClr val="666666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indent="0" algn="ctr">
                        <a:buNone/>
                      </a:pPr>
                      <a:r>
                        <a:rPr b="0" lang="en-US" sz="2200" spc="-1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50%</a:t>
                      </a:r>
                      <a:endParaRPr b="0" lang="en-US" sz="22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t" marL="36000" marR="36000">
                    <a:lnL w="7200">
                      <a:solidFill>
                        <a:srgbClr val="666666"/>
                      </a:solidFill>
                      <a:prstDash val="solid"/>
                    </a:lnL>
                    <a:lnR w="7200">
                      <a:solidFill>
                        <a:srgbClr val="666666"/>
                      </a:solidFill>
                      <a:prstDash val="solid"/>
                    </a:lnR>
                    <a:lnT w="7200">
                      <a:solidFill>
                        <a:srgbClr val="666666"/>
                      </a:solidFill>
                      <a:prstDash val="solid"/>
                    </a:lnT>
                    <a:lnB w="7200">
                      <a:solidFill>
                        <a:srgbClr val="666666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</a:tr>
              <a:tr h="587520">
                <a:tc>
                  <a:txBody>
                    <a:bodyPr lIns="36000" rIns="36000" tIns="36000" bIns="36000" anchor="t">
                      <a:noAutofit/>
                    </a:bodyPr>
                    <a:p>
                      <a:pPr indent="0">
                        <a:buNone/>
                      </a:pPr>
                      <a:r>
                        <a:rPr b="0" lang="en-US" sz="2200" spc="-1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Authentication and database verification</a:t>
                      </a:r>
                      <a:endParaRPr b="0" lang="en-US" sz="22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t" marL="36000" marR="36000">
                    <a:lnL w="7200">
                      <a:solidFill>
                        <a:srgbClr val="666666"/>
                      </a:solidFill>
                      <a:prstDash val="solid"/>
                    </a:lnL>
                    <a:lnR w="7200">
                      <a:solidFill>
                        <a:srgbClr val="666666"/>
                      </a:solidFill>
                      <a:prstDash val="solid"/>
                    </a:lnR>
                    <a:lnT w="7200">
                      <a:solidFill>
                        <a:srgbClr val="666666"/>
                      </a:solidFill>
                      <a:prstDash val="solid"/>
                    </a:lnT>
                    <a:lnB w="7200">
                      <a:solidFill>
                        <a:srgbClr val="66666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indent="0" algn="ctr">
                        <a:buNone/>
                      </a:pPr>
                      <a:r>
                        <a:rPr b="0" lang="en-US" sz="2200" spc="-1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Completed</a:t>
                      </a:r>
                      <a:endParaRPr b="0" lang="en-US" sz="22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t" marL="36000" marR="36000">
                    <a:lnL w="7200">
                      <a:solidFill>
                        <a:srgbClr val="666666"/>
                      </a:solidFill>
                      <a:prstDash val="solid"/>
                    </a:lnL>
                    <a:lnR w="7200">
                      <a:solidFill>
                        <a:srgbClr val="666666"/>
                      </a:solidFill>
                      <a:prstDash val="solid"/>
                    </a:lnR>
                    <a:lnT w="7200">
                      <a:solidFill>
                        <a:srgbClr val="666666"/>
                      </a:solidFill>
                      <a:prstDash val="solid"/>
                    </a:lnT>
                    <a:lnB w="7200">
                      <a:solidFill>
                        <a:srgbClr val="66666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indent="0" algn="ctr">
                        <a:buNone/>
                      </a:pPr>
                      <a:r>
                        <a:rPr b="0" lang="en-US" sz="2200" spc="-1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100%</a:t>
                      </a:r>
                      <a:endParaRPr b="0" lang="en-US" sz="22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t" marL="36000" marR="36000">
                    <a:lnL w="7200">
                      <a:solidFill>
                        <a:srgbClr val="666666"/>
                      </a:solidFill>
                      <a:prstDash val="solid"/>
                    </a:lnL>
                    <a:lnR w="7200">
                      <a:solidFill>
                        <a:srgbClr val="666666"/>
                      </a:solidFill>
                      <a:prstDash val="solid"/>
                    </a:lnR>
                    <a:lnT w="7200">
                      <a:solidFill>
                        <a:srgbClr val="666666"/>
                      </a:solidFill>
                      <a:prstDash val="solid"/>
                    </a:lnT>
                    <a:lnB w="7200">
                      <a:solidFill>
                        <a:srgbClr val="66666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87520">
                <a:tc>
                  <a:txBody>
                    <a:bodyPr lIns="36000" rIns="36000" tIns="36000" bIns="36000" anchor="t">
                      <a:noAutofit/>
                    </a:bodyPr>
                    <a:p>
                      <a:pPr indent="0">
                        <a:buNone/>
                      </a:pPr>
                      <a:r>
                        <a:rPr b="0" lang="en-US" sz="2200" spc="-1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Robust transaction logging</a:t>
                      </a:r>
                      <a:endParaRPr b="0" lang="en-US" sz="22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t" marL="36000" marR="36000">
                    <a:lnL w="7200">
                      <a:solidFill>
                        <a:srgbClr val="666666"/>
                      </a:solidFill>
                      <a:prstDash val="solid"/>
                    </a:lnL>
                    <a:lnR w="7200">
                      <a:solidFill>
                        <a:srgbClr val="666666"/>
                      </a:solidFill>
                      <a:prstDash val="solid"/>
                    </a:lnR>
                    <a:lnT w="7200">
                      <a:solidFill>
                        <a:srgbClr val="666666"/>
                      </a:solidFill>
                      <a:prstDash val="solid"/>
                    </a:lnT>
                    <a:lnB w="7200">
                      <a:solidFill>
                        <a:srgbClr val="666666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indent="0" algn="ctr">
                        <a:buNone/>
                      </a:pPr>
                      <a:r>
                        <a:rPr b="0" lang="en-US" sz="2200" spc="-1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Completed</a:t>
                      </a:r>
                      <a:endParaRPr b="0" lang="en-US" sz="22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t" marL="36000" marR="36000">
                    <a:lnL w="7200">
                      <a:solidFill>
                        <a:srgbClr val="666666"/>
                      </a:solidFill>
                      <a:prstDash val="solid"/>
                    </a:lnL>
                    <a:lnR w="7200">
                      <a:solidFill>
                        <a:srgbClr val="666666"/>
                      </a:solidFill>
                      <a:prstDash val="solid"/>
                    </a:lnR>
                    <a:lnT w="7200">
                      <a:solidFill>
                        <a:srgbClr val="666666"/>
                      </a:solidFill>
                      <a:prstDash val="solid"/>
                    </a:lnT>
                    <a:lnB w="7200">
                      <a:solidFill>
                        <a:srgbClr val="666666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indent="0" algn="ctr">
                        <a:buNone/>
                      </a:pPr>
                      <a:r>
                        <a:rPr b="0" lang="en-US" sz="2200" spc="-1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100%</a:t>
                      </a:r>
                      <a:endParaRPr b="0" lang="en-US" sz="22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t" marL="36000" marR="36000">
                    <a:lnL w="7200">
                      <a:solidFill>
                        <a:srgbClr val="666666"/>
                      </a:solidFill>
                      <a:prstDash val="solid"/>
                    </a:lnL>
                    <a:lnR w="7200">
                      <a:solidFill>
                        <a:srgbClr val="666666"/>
                      </a:solidFill>
                      <a:prstDash val="solid"/>
                    </a:lnR>
                    <a:lnT w="7200">
                      <a:solidFill>
                        <a:srgbClr val="666666"/>
                      </a:solidFill>
                      <a:prstDash val="solid"/>
                    </a:lnT>
                    <a:lnB w="7200">
                      <a:solidFill>
                        <a:srgbClr val="666666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</a:tr>
              <a:tr h="587520">
                <a:tc>
                  <a:txBody>
                    <a:bodyPr lIns="36000" rIns="36000" tIns="36000" bIns="36000" anchor="t">
                      <a:noAutofit/>
                    </a:bodyPr>
                    <a:p>
                      <a:pPr indent="0">
                        <a:buNone/>
                      </a:pPr>
                      <a:r>
                        <a:rPr b="0" lang="en-US" sz="2200" spc="-1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Security policy (SMS - OTP)</a:t>
                      </a:r>
                      <a:endParaRPr b="0" lang="en-US" sz="22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t" marL="36000" marR="36000">
                    <a:lnL w="7200">
                      <a:solidFill>
                        <a:srgbClr val="666666"/>
                      </a:solidFill>
                      <a:prstDash val="solid"/>
                    </a:lnL>
                    <a:lnR w="7200">
                      <a:solidFill>
                        <a:srgbClr val="666666"/>
                      </a:solidFill>
                      <a:prstDash val="solid"/>
                    </a:lnR>
                    <a:lnT w="7200">
                      <a:solidFill>
                        <a:srgbClr val="666666"/>
                      </a:solidFill>
                      <a:prstDash val="solid"/>
                    </a:lnT>
                    <a:lnB w="7200">
                      <a:solidFill>
                        <a:srgbClr val="66666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indent="0" algn="ctr">
                        <a:buNone/>
                      </a:pPr>
                      <a:r>
                        <a:rPr b="0" lang="en-US" sz="2200" spc="-1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Completed</a:t>
                      </a:r>
                      <a:endParaRPr b="0" lang="en-US" sz="22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t" marL="36000" marR="36000">
                    <a:lnL w="7200">
                      <a:solidFill>
                        <a:srgbClr val="666666"/>
                      </a:solidFill>
                      <a:prstDash val="solid"/>
                    </a:lnL>
                    <a:lnR w="7200">
                      <a:solidFill>
                        <a:srgbClr val="666666"/>
                      </a:solidFill>
                      <a:prstDash val="solid"/>
                    </a:lnR>
                    <a:lnT w="7200">
                      <a:solidFill>
                        <a:srgbClr val="666666"/>
                      </a:solidFill>
                      <a:prstDash val="solid"/>
                    </a:lnT>
                    <a:lnB w="7200">
                      <a:solidFill>
                        <a:srgbClr val="66666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indent="0" algn="ctr">
                        <a:buNone/>
                      </a:pPr>
                      <a:r>
                        <a:rPr b="0" lang="en-US" sz="2200" spc="-1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100%</a:t>
                      </a:r>
                      <a:endParaRPr b="0" lang="en-US" sz="22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t" marL="36000" marR="36000">
                    <a:lnL w="7200">
                      <a:solidFill>
                        <a:srgbClr val="666666"/>
                      </a:solidFill>
                      <a:prstDash val="solid"/>
                    </a:lnL>
                    <a:lnR w="7200">
                      <a:solidFill>
                        <a:srgbClr val="666666"/>
                      </a:solidFill>
                      <a:prstDash val="solid"/>
                    </a:lnR>
                    <a:lnT w="7200">
                      <a:solidFill>
                        <a:srgbClr val="666666"/>
                      </a:solidFill>
                      <a:prstDash val="solid"/>
                    </a:lnT>
                    <a:lnB w="7200">
                      <a:solidFill>
                        <a:srgbClr val="66666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87520">
                <a:tc>
                  <a:txBody>
                    <a:bodyPr lIns="36000" rIns="36000" tIns="36000" bIns="36000" anchor="t">
                      <a:noAutofit/>
                    </a:bodyPr>
                    <a:p>
                      <a:pPr indent="0">
                        <a:buNone/>
                      </a:pPr>
                      <a:r>
                        <a:rPr b="0" lang="en-US" sz="2200" spc="-1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Evaluate system performances</a:t>
                      </a:r>
                      <a:endParaRPr b="0" lang="en-US" sz="22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t" marL="36000" marR="36000">
                    <a:lnL w="7200">
                      <a:solidFill>
                        <a:srgbClr val="666666"/>
                      </a:solidFill>
                      <a:prstDash val="solid"/>
                    </a:lnL>
                    <a:lnR w="7200">
                      <a:solidFill>
                        <a:srgbClr val="666666"/>
                      </a:solidFill>
                      <a:prstDash val="solid"/>
                    </a:lnR>
                    <a:lnT w="7200">
                      <a:solidFill>
                        <a:srgbClr val="666666"/>
                      </a:solidFill>
                      <a:prstDash val="solid"/>
                    </a:lnT>
                    <a:lnB w="7200">
                      <a:solidFill>
                        <a:srgbClr val="666666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indent="0" algn="ctr">
                        <a:buNone/>
                      </a:pPr>
                      <a:r>
                        <a:rPr b="0" lang="en-US" sz="2200" spc="-1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In progress</a:t>
                      </a:r>
                      <a:endParaRPr b="0" lang="en-US" sz="22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t" marL="36000" marR="36000">
                    <a:lnL w="7200">
                      <a:solidFill>
                        <a:srgbClr val="666666"/>
                      </a:solidFill>
                      <a:prstDash val="solid"/>
                    </a:lnL>
                    <a:lnR w="7200">
                      <a:solidFill>
                        <a:srgbClr val="666666"/>
                      </a:solidFill>
                      <a:prstDash val="solid"/>
                    </a:lnR>
                    <a:lnT w="7200">
                      <a:solidFill>
                        <a:srgbClr val="666666"/>
                      </a:solidFill>
                      <a:prstDash val="solid"/>
                    </a:lnT>
                    <a:lnB w="7200">
                      <a:solidFill>
                        <a:srgbClr val="666666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indent="0" algn="ctr">
                        <a:buNone/>
                      </a:pPr>
                      <a:r>
                        <a:rPr b="0" lang="en-US" sz="2200" spc="-1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30%</a:t>
                      </a:r>
                      <a:endParaRPr b="0" lang="en-US" sz="22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t" marL="36000" marR="36000">
                    <a:lnL w="7200">
                      <a:solidFill>
                        <a:srgbClr val="666666"/>
                      </a:solidFill>
                      <a:prstDash val="solid"/>
                    </a:lnL>
                    <a:lnR w="7200">
                      <a:solidFill>
                        <a:srgbClr val="666666"/>
                      </a:solidFill>
                      <a:prstDash val="solid"/>
                    </a:lnR>
                    <a:lnT w="7200">
                      <a:solidFill>
                        <a:srgbClr val="666666"/>
                      </a:solidFill>
                      <a:prstDash val="solid"/>
                    </a:lnT>
                    <a:lnB w="7200">
                      <a:solidFill>
                        <a:srgbClr val="666666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</a:tr>
              <a:tr h="589680">
                <a:tc>
                  <a:txBody>
                    <a:bodyPr lIns="36000" rIns="36000" tIns="36000" bIns="36000" anchor="t">
                      <a:noAutofit/>
                    </a:bodyPr>
                    <a:p>
                      <a:pPr indent="0">
                        <a:buNone/>
                      </a:pPr>
                      <a:r>
                        <a:rPr b="0" lang="en-US" sz="2200" spc="-1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Formal report on milestones</a:t>
                      </a:r>
                      <a:endParaRPr b="0" lang="en-US" sz="22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t" marL="36000" marR="36000">
                    <a:lnL w="7200">
                      <a:solidFill>
                        <a:srgbClr val="666666"/>
                      </a:solidFill>
                      <a:prstDash val="solid"/>
                    </a:lnL>
                    <a:lnR w="7200">
                      <a:solidFill>
                        <a:srgbClr val="666666"/>
                      </a:solidFill>
                      <a:prstDash val="solid"/>
                    </a:lnR>
                    <a:lnT w="7200">
                      <a:solidFill>
                        <a:srgbClr val="666666"/>
                      </a:solidFill>
                      <a:prstDash val="solid"/>
                    </a:lnT>
                    <a:lnB w="7200">
                      <a:solidFill>
                        <a:srgbClr val="66666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indent="0" algn="ctr">
                        <a:buNone/>
                      </a:pPr>
                      <a:r>
                        <a:rPr b="0" lang="en-US" sz="2200" spc="-1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In progress</a:t>
                      </a:r>
                      <a:endParaRPr b="0" lang="en-US" sz="22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t" marL="36000" marR="36000">
                    <a:lnL w="7200">
                      <a:solidFill>
                        <a:srgbClr val="666666"/>
                      </a:solidFill>
                      <a:prstDash val="solid"/>
                    </a:lnL>
                    <a:lnR w="7200">
                      <a:solidFill>
                        <a:srgbClr val="666666"/>
                      </a:solidFill>
                      <a:prstDash val="solid"/>
                    </a:lnR>
                    <a:lnT w="7200">
                      <a:solidFill>
                        <a:srgbClr val="666666"/>
                      </a:solidFill>
                      <a:prstDash val="solid"/>
                    </a:lnT>
                    <a:lnB w="7200">
                      <a:solidFill>
                        <a:srgbClr val="66666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indent="0" algn="ctr">
                        <a:buNone/>
                      </a:pPr>
                      <a:r>
                        <a:rPr b="0" lang="en-US" sz="2200" spc="-1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75%</a:t>
                      </a:r>
                      <a:endParaRPr b="0" lang="en-US" sz="22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t" marL="36000" marR="36000">
                    <a:lnL w="7200">
                      <a:solidFill>
                        <a:srgbClr val="666666"/>
                      </a:solidFill>
                      <a:prstDash val="solid"/>
                    </a:lnL>
                    <a:lnR w="7200">
                      <a:solidFill>
                        <a:srgbClr val="666666"/>
                      </a:solidFill>
                      <a:prstDash val="solid"/>
                    </a:lnR>
                    <a:lnT w="7200">
                      <a:solidFill>
                        <a:srgbClr val="666666"/>
                      </a:solidFill>
                      <a:prstDash val="solid"/>
                    </a:lnT>
                    <a:lnB w="7200">
                      <a:solidFill>
                        <a:srgbClr val="66666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548640" y="1481040"/>
            <a:ext cx="9071640" cy="1262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1" lang="en-US" sz="5400" spc="-1" strike="noStrike">
                <a:solidFill>
                  <a:srgbClr val="000000"/>
                </a:solidFill>
                <a:latin typeface="Times New Roman"/>
              </a:rPr>
              <a:t>Conclusion</a:t>
            </a:r>
            <a:endParaRPr b="1" lang="en-US" sz="5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5" name="PlaceHolder 2"/>
          <p:cNvSpPr>
            <a:spLocks noGrp="1"/>
          </p:cNvSpPr>
          <p:nvPr>
            <p:ph/>
          </p:nvPr>
        </p:nvSpPr>
        <p:spPr>
          <a:xfrm>
            <a:off x="548640" y="2834640"/>
            <a:ext cx="9071640" cy="438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 algn="just">
              <a:lnSpc>
                <a:spcPct val="150000"/>
              </a:lnSpc>
              <a:spcAft>
                <a:spcPts val="1057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600" spc="-1" strike="noStrike">
                <a:solidFill>
                  <a:srgbClr val="000000"/>
                </a:solidFill>
                <a:latin typeface="Times New Roman"/>
              </a:rPr>
              <a:t>Work done to date; system architecture design, computer vision </a:t>
            </a:r>
            <a:r>
              <a:rPr b="0" lang="en-GB" sz="2600" spc="-1" strike="noStrike">
                <a:solidFill>
                  <a:srgbClr val="000000"/>
                </a:solidFill>
                <a:latin typeface="Times New Roman"/>
              </a:rPr>
              <a:t>and OCR pipeline, SMS gateway configuration and two-factor </a:t>
            </a:r>
            <a:r>
              <a:rPr b="0" lang="en-GB" sz="2600" spc="-1" strike="noStrike">
                <a:solidFill>
                  <a:srgbClr val="000000"/>
                </a:solidFill>
                <a:latin typeface="Times New Roman"/>
              </a:rPr>
              <a:t>authentication, database creation, verification and transaction </a:t>
            </a:r>
            <a:r>
              <a:rPr b="0" lang="en-GB" sz="2600" spc="-1" strike="noStrike">
                <a:solidFill>
                  <a:srgbClr val="000000"/>
                </a:solidFill>
                <a:latin typeface="Times New Roman"/>
              </a:rPr>
              <a:t>logging, circuit schematic and pcb design and simulation</a:t>
            </a:r>
            <a:endParaRPr b="0" lang="en-US" sz="2600" spc="-1" strike="noStrike">
              <a:solidFill>
                <a:srgbClr val="000000"/>
              </a:solidFill>
              <a:latin typeface="Open Sans"/>
            </a:endParaRPr>
          </a:p>
          <a:p>
            <a:pPr marL="432000" indent="-324000" algn="just">
              <a:lnSpc>
                <a:spcPct val="150000"/>
              </a:lnSpc>
              <a:spcAft>
                <a:spcPts val="1057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600" spc="-1" strike="noStrike">
                <a:solidFill>
                  <a:srgbClr val="000000"/>
                </a:solidFill>
                <a:latin typeface="Times New Roman"/>
              </a:rPr>
              <a:t>Next progress; finalization of prototype’s enclosure and </a:t>
            </a:r>
            <a:r>
              <a:rPr b="0" lang="en-GB" sz="2600" spc="-1" strike="noStrike">
                <a:solidFill>
                  <a:srgbClr val="000000"/>
                </a:solidFill>
                <a:latin typeface="Times New Roman"/>
              </a:rPr>
              <a:t>evaluation of system’s metrics.</a:t>
            </a:r>
            <a:endParaRPr b="0" lang="en-US" sz="2600" spc="-1" strike="noStrike">
              <a:solidFill>
                <a:srgbClr val="000000"/>
              </a:solidFill>
              <a:latin typeface="Open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UNI_Template</Template>
  <TotalTime>69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2026-06-04T22:27:23Z</dcterms:created>
  <dc:creator/>
  <dc:description>A clean and simple presentation template loosely based on Google's Material Design guidelines.</dc:description>
  <dc:language>en-US</dc:language>
  <cp:lastModifiedBy/>
  <dcterms:modified xsi:type="dcterms:W3CDTF">2026-06-05T00:52:08Z</dcterms:modified>
  <cp:revision>15</cp:revision>
  <dc:subject/>
  <dc:title>UNI_Template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License">
    <vt:lpwstr>MIT</vt:lpwstr>
  </property>
</Properties>
</file>